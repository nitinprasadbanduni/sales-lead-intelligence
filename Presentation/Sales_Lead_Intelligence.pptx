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DM Sans" pitchFamily="2" charset="0"/>
      <p:regular r:id="rId17"/>
    </p:embeddedFont>
    <p:embeddedFont>
      <p:font typeface="DM Sans Bold" charset="0"/>
      <p:regular r:id="rId18"/>
    </p:embeddedFont>
    <p:embeddedFont>
      <p:font typeface="Montserrat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ales-lead-intelligence-e2tsbvdrap6mh7rs93ocdt.streamlit.app" TargetMode="External"/><Relationship Id="rId2" Type="http://schemas.openxmlformats.org/officeDocument/2006/relationships/hyperlink" Target="https://github.com/NitinPrasadBanduni/Sales-Lead-Intelligence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71A2B">
                    <a:alpha val="72000"/>
                  </a:srgbClr>
                </a:gs>
                <a:gs pos="58000">
                  <a:srgbClr val="071A2B">
                    <a:alpha val="51840"/>
                  </a:srgbClr>
                </a:gs>
                <a:gs pos="100000">
                  <a:srgbClr val="071A2B">
                    <a:alpha val="108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7143750"/>
            <a:ext cx="1143000" cy="57150"/>
            <a:chOff x="0" y="0"/>
            <a:chExt cx="1524000" cy="76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0" cy="76200"/>
            </a:xfrm>
            <a:custGeom>
              <a:avLst/>
              <a:gdLst/>
              <a:ahLst/>
              <a:cxnLst/>
              <a:rect l="l" t="t" r="r" b="b"/>
              <a:pathLst>
                <a:path w="1524000" h="762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240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400" y="1876425"/>
            <a:ext cx="9334500" cy="228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4"/>
              </a:lnSpc>
            </a:pPr>
            <a:r>
              <a:rPr lang="en-US" sz="840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Lead</a:t>
            </a:r>
          </a:p>
          <a:p>
            <a:pPr algn="l">
              <a:lnSpc>
                <a:spcPts val="8904"/>
              </a:lnSpc>
            </a:pPr>
            <a:r>
              <a:rPr lang="en-US" sz="840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" y="4305300"/>
            <a:ext cx="8858250" cy="82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5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Predicting Lead Conversion and Segmenting Prospects Using Machine 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5886450"/>
            <a:ext cx="6667500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025" b="1">
                <a:solidFill>
                  <a:srgbClr val="F8FAFC"/>
                </a:solidFill>
                <a:latin typeface="DM Sans Bold"/>
                <a:ea typeface="DM Sans Bold"/>
                <a:cs typeface="DM Sans Bold"/>
                <a:sym typeface="DM Sans Bold"/>
              </a:rPr>
              <a:t>Nitin Prasad  |  Data Analyst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7753350"/>
            <a:ext cx="12858750" cy="260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Python  •  Pandas  •  Scikit-learn  •  XGBoost  •  K-Means  •  Plotly  •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52475"/>
            <a:ext cx="9525000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49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Business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66850"/>
            <a:ext cx="10477500" cy="30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B2B teams face a capacity problem—not a lead volume problem.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43000" y="3143250"/>
            <a:ext cx="3143250" cy="1428750"/>
            <a:chOff x="0" y="0"/>
            <a:chExt cx="4191000" cy="190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843424"/>
                  </a:lnTo>
                  <a:cubicBezTo>
                    <a:pt x="4191000" y="1877432"/>
                    <a:pt x="4163432" y="1905000"/>
                    <a:pt x="4129424" y="1905000"/>
                  </a:cubicBezTo>
                  <a:lnTo>
                    <a:pt x="61576" y="1905000"/>
                  </a:lnTo>
                  <a:cubicBezTo>
                    <a:pt x="27568" y="1905000"/>
                    <a:pt x="0" y="1877432"/>
                    <a:pt x="0" y="1843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4191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Large Lead Pool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286250" y="3857625"/>
            <a:ext cx="9048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5381625" y="3143250"/>
            <a:ext cx="3143250" cy="1428750"/>
            <a:chOff x="0" y="0"/>
            <a:chExt cx="4191000" cy="190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843424"/>
                  </a:lnTo>
                  <a:cubicBezTo>
                    <a:pt x="4191000" y="1877432"/>
                    <a:pt x="4163432" y="1905000"/>
                    <a:pt x="4129424" y="1905000"/>
                  </a:cubicBezTo>
                  <a:lnTo>
                    <a:pt x="61576" y="1905000"/>
                  </a:lnTo>
                  <a:cubicBezTo>
                    <a:pt x="27568" y="1905000"/>
                    <a:pt x="0" y="1877432"/>
                    <a:pt x="0" y="1843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28575"/>
              <a:ext cx="4191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Different Lead Quality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524875" y="3857625"/>
            <a:ext cx="9048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9620250" y="3143250"/>
            <a:ext cx="3143250" cy="1428750"/>
            <a:chOff x="0" y="0"/>
            <a:chExt cx="4191000" cy="190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843424"/>
                  </a:lnTo>
                  <a:cubicBezTo>
                    <a:pt x="4191000" y="1877432"/>
                    <a:pt x="4163432" y="1905000"/>
                    <a:pt x="4129424" y="1905000"/>
                  </a:cubicBezTo>
                  <a:lnTo>
                    <a:pt x="61576" y="1905000"/>
                  </a:lnTo>
                  <a:cubicBezTo>
                    <a:pt x="27568" y="1905000"/>
                    <a:pt x="0" y="1877432"/>
                    <a:pt x="0" y="1843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4191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Limited Sales Capacity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2763500" y="3857625"/>
            <a:ext cx="9048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3858875" y="3143250"/>
            <a:ext cx="3143250" cy="1428750"/>
            <a:chOff x="0" y="0"/>
            <a:chExt cx="4191000" cy="1905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843424"/>
                  </a:lnTo>
                  <a:cubicBezTo>
                    <a:pt x="4191000" y="1877432"/>
                    <a:pt x="4163432" y="1905000"/>
                    <a:pt x="4129424" y="1905000"/>
                  </a:cubicBezTo>
                  <a:lnTo>
                    <a:pt x="61576" y="1905000"/>
                  </a:lnTo>
                  <a:cubicBezTo>
                    <a:pt x="27568" y="1905000"/>
                    <a:pt x="0" y="1877432"/>
                    <a:pt x="0" y="1843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4191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Intelligent Prioritization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33500" y="5038725"/>
            <a:ext cx="2762250" cy="53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Purchase intent varies significantly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72125" y="5038725"/>
            <a:ext cx="2762250" cy="53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Follow-up capacity is limited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10750" y="5038725"/>
            <a:ext cx="2762250" cy="53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Manual prioritization can be inconsistent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49375" y="5038725"/>
            <a:ext cx="2762250" cy="53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Lead types need different engagement strategies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667875" y="6477000"/>
            <a:ext cx="7096125" cy="2000250"/>
            <a:chOff x="0" y="0"/>
            <a:chExt cx="9461500" cy="2667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9461500" cy="2667000"/>
              <a:chOff x="0" y="0"/>
              <a:chExt cx="9461500" cy="266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4615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461500" h="2667000">
                    <a:moveTo>
                      <a:pt x="0" y="0"/>
                    </a:moveTo>
                    <a:lnTo>
                      <a:pt x="9461500" y="0"/>
                    </a:lnTo>
                    <a:lnTo>
                      <a:pt x="94615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94615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0"/>
              <a:ext cx="101600" cy="2667000"/>
              <a:chOff x="0" y="0"/>
              <a:chExt cx="101600" cy="2667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1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667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22D3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01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444500" y="352425"/>
              <a:ext cx="8890000" cy="1357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72"/>
                </a:lnSpc>
              </a:pPr>
              <a:r>
                <a:rPr lang="en-US" sz="2100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How can we identify which leads are more likely to convert and determine the right approach for different lead types?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52475"/>
            <a:ext cx="11430000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49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the Problem Was Solved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66850"/>
            <a:ext cx="10477500" cy="30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95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A four-stage framework turns behavior into focused sales action.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00125" y="2476500"/>
            <a:ext cx="3714750" cy="2762250"/>
            <a:chOff x="0" y="0"/>
            <a:chExt cx="4953000" cy="368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953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68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55600" y="358775"/>
              <a:ext cx="1016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 spc="270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1235075"/>
              <a:ext cx="4191000" cy="489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5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ANALYZE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2085975"/>
              <a:ext cx="4191000" cy="71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Understand behavior</a:t>
              </a:r>
            </a:p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Find conversion signals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4714875" y="385762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5286375" y="2476500"/>
            <a:ext cx="3714750" cy="2762250"/>
            <a:chOff x="0" y="0"/>
            <a:chExt cx="4953000" cy="3683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953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68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55600" y="358775"/>
              <a:ext cx="1016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 spc="270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235075"/>
              <a:ext cx="4191000" cy="489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5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PREDICT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600" y="2085975"/>
              <a:ext cx="4191000" cy="71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Estimate probability</a:t>
              </a:r>
            </a:p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Prioritize follow-up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9001125" y="385762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9572625" y="2476500"/>
            <a:ext cx="3714750" cy="2762250"/>
            <a:chOff x="0" y="0"/>
            <a:chExt cx="4953000" cy="3683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953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68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55600" y="358775"/>
              <a:ext cx="1016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 spc="270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600" y="1235075"/>
              <a:ext cx="4191000" cy="489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5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SEGMENT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600" y="2085975"/>
              <a:ext cx="4191000" cy="71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Discover lead profiles</a:t>
              </a:r>
            </a:p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Differentiate strategy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3287375" y="385762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3" name="Group 33"/>
          <p:cNvGrpSpPr/>
          <p:nvPr/>
        </p:nvGrpSpPr>
        <p:grpSpPr>
          <a:xfrm>
            <a:off x="13858875" y="2476500"/>
            <a:ext cx="3714750" cy="2762250"/>
            <a:chOff x="0" y="0"/>
            <a:chExt cx="4953000" cy="3683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953000" cy="3683000"/>
              <a:chOff x="0" y="0"/>
              <a:chExt cx="4953000" cy="3683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953000" cy="368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68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163A5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4953000" cy="372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55600" y="358775"/>
              <a:ext cx="1016000" cy="504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 spc="270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5600" y="1235075"/>
              <a:ext cx="4191000" cy="489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5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5600" y="2085975"/>
              <a:ext cx="4191000" cy="71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Translate insight</a:t>
              </a:r>
            </a:p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into sales action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66875" y="6858000"/>
            <a:ext cx="2857500" cy="857250"/>
            <a:chOff x="0" y="0"/>
            <a:chExt cx="3810000" cy="1143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075267"/>
                  </a:lnTo>
                  <a:cubicBezTo>
                    <a:pt x="3810000" y="1093231"/>
                    <a:pt x="3802864" y="1110459"/>
                    <a:pt x="3790161" y="1123161"/>
                  </a:cubicBezTo>
                  <a:cubicBezTo>
                    <a:pt x="3777459" y="1135864"/>
                    <a:pt x="3760231" y="1143000"/>
                    <a:pt x="3742267" y="1143000"/>
                  </a:cubicBezTo>
                  <a:lnTo>
                    <a:pt x="67733" y="1143000"/>
                  </a:lnTo>
                  <a:cubicBezTo>
                    <a:pt x="49769" y="1143000"/>
                    <a:pt x="32541" y="1135864"/>
                    <a:pt x="19839" y="1123161"/>
                  </a:cubicBezTo>
                  <a:cubicBezTo>
                    <a:pt x="7136" y="1110459"/>
                    <a:pt x="0" y="1093231"/>
                    <a:pt x="0" y="1075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28575"/>
              <a:ext cx="3810000" cy="1114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Analyze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>
            <a:off x="4524375" y="7286625"/>
            <a:ext cx="857250" cy="0"/>
          </a:xfrm>
          <a:prstGeom prst="line">
            <a:avLst/>
          </a:prstGeom>
          <a:ln w="28575" cap="rnd">
            <a:solidFill>
              <a:srgbClr val="60A5F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4" name="Group 44"/>
          <p:cNvGrpSpPr/>
          <p:nvPr/>
        </p:nvGrpSpPr>
        <p:grpSpPr>
          <a:xfrm>
            <a:off x="5524500" y="6858000"/>
            <a:ext cx="2857500" cy="857250"/>
            <a:chOff x="0" y="0"/>
            <a:chExt cx="3810000" cy="1143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075267"/>
                  </a:lnTo>
                  <a:cubicBezTo>
                    <a:pt x="3810000" y="1093231"/>
                    <a:pt x="3802864" y="1110459"/>
                    <a:pt x="3790161" y="1123161"/>
                  </a:cubicBezTo>
                  <a:cubicBezTo>
                    <a:pt x="3777459" y="1135864"/>
                    <a:pt x="3760231" y="1143000"/>
                    <a:pt x="3742267" y="1143000"/>
                  </a:cubicBezTo>
                  <a:lnTo>
                    <a:pt x="67733" y="1143000"/>
                  </a:lnTo>
                  <a:cubicBezTo>
                    <a:pt x="49769" y="1143000"/>
                    <a:pt x="32541" y="1135864"/>
                    <a:pt x="19839" y="1123161"/>
                  </a:cubicBezTo>
                  <a:cubicBezTo>
                    <a:pt x="7136" y="1110459"/>
                    <a:pt x="0" y="1093231"/>
                    <a:pt x="0" y="1075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28575"/>
              <a:ext cx="3810000" cy="1114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Predict + Segment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>
            <a:off x="8382000" y="7286625"/>
            <a:ext cx="857250" cy="0"/>
          </a:xfrm>
          <a:prstGeom prst="line">
            <a:avLst/>
          </a:prstGeom>
          <a:ln w="28575" cap="rnd">
            <a:solidFill>
              <a:srgbClr val="60A5F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8" name="Group 48"/>
          <p:cNvGrpSpPr/>
          <p:nvPr/>
        </p:nvGrpSpPr>
        <p:grpSpPr>
          <a:xfrm>
            <a:off x="9382125" y="6858000"/>
            <a:ext cx="2857500" cy="857250"/>
            <a:chOff x="0" y="0"/>
            <a:chExt cx="3810000" cy="1143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075267"/>
                  </a:lnTo>
                  <a:cubicBezTo>
                    <a:pt x="3810000" y="1093231"/>
                    <a:pt x="3802864" y="1110459"/>
                    <a:pt x="3790161" y="1123161"/>
                  </a:cubicBezTo>
                  <a:cubicBezTo>
                    <a:pt x="3777459" y="1135864"/>
                    <a:pt x="3760231" y="1143000"/>
                    <a:pt x="3742267" y="1143000"/>
                  </a:cubicBezTo>
                  <a:lnTo>
                    <a:pt x="67733" y="1143000"/>
                  </a:lnTo>
                  <a:cubicBezTo>
                    <a:pt x="49769" y="1143000"/>
                    <a:pt x="32541" y="1135864"/>
                    <a:pt x="19839" y="1123161"/>
                  </a:cubicBezTo>
                  <a:cubicBezTo>
                    <a:pt x="7136" y="1110459"/>
                    <a:pt x="0" y="1093231"/>
                    <a:pt x="0" y="1075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28575"/>
              <a:ext cx="3810000" cy="1114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Insights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12239625" y="7286625"/>
            <a:ext cx="857250" cy="0"/>
          </a:xfrm>
          <a:prstGeom prst="line">
            <a:avLst/>
          </a:prstGeom>
          <a:ln w="28575" cap="rnd">
            <a:solidFill>
              <a:srgbClr val="60A5F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2" name="Group 52"/>
          <p:cNvGrpSpPr/>
          <p:nvPr/>
        </p:nvGrpSpPr>
        <p:grpSpPr>
          <a:xfrm>
            <a:off x="13239750" y="6858000"/>
            <a:ext cx="2857500" cy="857250"/>
            <a:chOff x="0" y="0"/>
            <a:chExt cx="3810000" cy="1143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075267"/>
                  </a:lnTo>
                  <a:cubicBezTo>
                    <a:pt x="3810000" y="1093231"/>
                    <a:pt x="3802864" y="1110459"/>
                    <a:pt x="3790161" y="1123161"/>
                  </a:cubicBezTo>
                  <a:cubicBezTo>
                    <a:pt x="3777459" y="1135864"/>
                    <a:pt x="3760231" y="1143000"/>
                    <a:pt x="3742267" y="1143000"/>
                  </a:cubicBezTo>
                  <a:lnTo>
                    <a:pt x="67733" y="1143000"/>
                  </a:lnTo>
                  <a:cubicBezTo>
                    <a:pt x="49769" y="1143000"/>
                    <a:pt x="32541" y="1135864"/>
                    <a:pt x="19839" y="1123161"/>
                  </a:cubicBezTo>
                  <a:cubicBezTo>
                    <a:pt x="7136" y="1110459"/>
                    <a:pt x="0" y="1093231"/>
                    <a:pt x="0" y="1075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28575"/>
              <a:ext cx="3810000" cy="1114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Sales Action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52475"/>
            <a:ext cx="12858750" cy="63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9"/>
              </a:lnSpc>
            </a:pPr>
            <a:r>
              <a:rPr lang="en-US" sz="46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Objectives &amp; Solution Scope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7250" y="2047875"/>
            <a:ext cx="5905500" cy="5810250"/>
            <a:chOff x="0" y="0"/>
            <a:chExt cx="7874000" cy="7747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7874000" cy="7747000"/>
              <a:chOff x="0" y="0"/>
              <a:chExt cx="7874000" cy="774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4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7747000">
                    <a:moveTo>
                      <a:pt x="0" y="0"/>
                    </a:moveTo>
                    <a:lnTo>
                      <a:pt x="7874000" y="0"/>
                    </a:lnTo>
                    <a:lnTo>
                      <a:pt x="7874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4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342900"/>
              <a:ext cx="3810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79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OBJECTIVES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00" y="1123950"/>
              <a:ext cx="6985000" cy="2344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Analyze historical lead behavior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Identify factors associated with conversion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Predict lead conversion probability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Segment leads by behavioral and business traits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Translate ML results into sales actions</a:t>
              </a:r>
            </a:p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Build and deploy an interactive application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667625" y="2295525"/>
            <a:ext cx="190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INPUTS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20750" y="2295525"/>
            <a:ext cx="190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OUTPUTS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239000" y="2857500"/>
            <a:ext cx="2714625" cy="685800"/>
            <a:chOff x="0" y="0"/>
            <a:chExt cx="36195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19500" cy="914400"/>
            </a:xfrm>
            <a:custGeom>
              <a:avLst/>
              <a:gdLst/>
              <a:ahLst/>
              <a:cxnLst/>
              <a:rect l="l" t="t" r="r" b="b"/>
              <a:pathLst>
                <a:path w="3619500" h="914400">
                  <a:moveTo>
                    <a:pt x="71298" y="0"/>
                  </a:moveTo>
                  <a:lnTo>
                    <a:pt x="3548202" y="0"/>
                  </a:lnTo>
                  <a:cubicBezTo>
                    <a:pt x="3587579" y="0"/>
                    <a:pt x="3619500" y="31921"/>
                    <a:pt x="3619500" y="71298"/>
                  </a:cubicBezTo>
                  <a:lnTo>
                    <a:pt x="3619500" y="843102"/>
                  </a:lnTo>
                  <a:cubicBezTo>
                    <a:pt x="3619500" y="882479"/>
                    <a:pt x="3587579" y="914400"/>
                    <a:pt x="3548202" y="914400"/>
                  </a:cubicBezTo>
                  <a:lnTo>
                    <a:pt x="71298" y="914400"/>
                  </a:lnTo>
                  <a:cubicBezTo>
                    <a:pt x="31921" y="914400"/>
                    <a:pt x="0" y="882479"/>
                    <a:pt x="0" y="843102"/>
                  </a:cubicBezTo>
                  <a:lnTo>
                    <a:pt x="0" y="71298"/>
                  </a:lnTo>
                  <a:cubicBezTo>
                    <a:pt x="0" y="31921"/>
                    <a:pt x="31921" y="0"/>
                    <a:pt x="71298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36195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Company profile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11250" y="2857500"/>
            <a:ext cx="3143250" cy="685800"/>
            <a:chOff x="0" y="0"/>
            <a:chExt cx="41910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91000" cy="914400"/>
            </a:xfrm>
            <a:custGeom>
              <a:avLst/>
              <a:gdLst/>
              <a:ahLst/>
              <a:cxnLst/>
              <a:rect l="l" t="t" r="r" b="b"/>
              <a:pathLst>
                <a:path w="4191000" h="9144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52824"/>
                  </a:lnTo>
                  <a:cubicBezTo>
                    <a:pt x="4191000" y="886832"/>
                    <a:pt x="4163432" y="914400"/>
                    <a:pt x="4129424" y="914400"/>
                  </a:cubicBezTo>
                  <a:lnTo>
                    <a:pt x="61576" y="914400"/>
                  </a:lnTo>
                  <a:cubicBezTo>
                    <a:pt x="27568" y="914400"/>
                    <a:pt x="0" y="886832"/>
                    <a:pt x="0" y="8528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41910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Conversion probability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0" y="3857625"/>
            <a:ext cx="2714625" cy="685800"/>
            <a:chOff x="0" y="0"/>
            <a:chExt cx="36195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19500" cy="914400"/>
            </a:xfrm>
            <a:custGeom>
              <a:avLst/>
              <a:gdLst/>
              <a:ahLst/>
              <a:cxnLst/>
              <a:rect l="l" t="t" r="r" b="b"/>
              <a:pathLst>
                <a:path w="3619500" h="914400">
                  <a:moveTo>
                    <a:pt x="71298" y="0"/>
                  </a:moveTo>
                  <a:lnTo>
                    <a:pt x="3548202" y="0"/>
                  </a:lnTo>
                  <a:cubicBezTo>
                    <a:pt x="3587579" y="0"/>
                    <a:pt x="3619500" y="31921"/>
                    <a:pt x="3619500" y="71298"/>
                  </a:cubicBezTo>
                  <a:lnTo>
                    <a:pt x="3619500" y="843102"/>
                  </a:lnTo>
                  <a:cubicBezTo>
                    <a:pt x="3619500" y="882479"/>
                    <a:pt x="3587579" y="914400"/>
                    <a:pt x="3548202" y="914400"/>
                  </a:cubicBezTo>
                  <a:lnTo>
                    <a:pt x="71298" y="914400"/>
                  </a:lnTo>
                  <a:cubicBezTo>
                    <a:pt x="31921" y="914400"/>
                    <a:pt x="0" y="882479"/>
                    <a:pt x="0" y="843102"/>
                  </a:cubicBezTo>
                  <a:lnTo>
                    <a:pt x="0" y="71298"/>
                  </a:lnTo>
                  <a:cubicBezTo>
                    <a:pt x="0" y="31921"/>
                    <a:pt x="31921" y="0"/>
                    <a:pt x="71298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36195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Lead acquisition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811250" y="3857625"/>
            <a:ext cx="3143250" cy="685800"/>
            <a:chOff x="0" y="0"/>
            <a:chExt cx="419100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91000" cy="914400"/>
            </a:xfrm>
            <a:custGeom>
              <a:avLst/>
              <a:gdLst/>
              <a:ahLst/>
              <a:cxnLst/>
              <a:rect l="l" t="t" r="r" b="b"/>
              <a:pathLst>
                <a:path w="4191000" h="9144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52824"/>
                  </a:lnTo>
                  <a:cubicBezTo>
                    <a:pt x="4191000" y="886832"/>
                    <a:pt x="4163432" y="914400"/>
                    <a:pt x="4129424" y="914400"/>
                  </a:cubicBezTo>
                  <a:lnTo>
                    <a:pt x="61576" y="914400"/>
                  </a:lnTo>
                  <a:cubicBezTo>
                    <a:pt x="27568" y="914400"/>
                    <a:pt x="0" y="886832"/>
                    <a:pt x="0" y="8528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41910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Lead segment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0" y="4857750"/>
            <a:ext cx="2714625" cy="685800"/>
            <a:chOff x="0" y="0"/>
            <a:chExt cx="36195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19500" cy="914400"/>
            </a:xfrm>
            <a:custGeom>
              <a:avLst/>
              <a:gdLst/>
              <a:ahLst/>
              <a:cxnLst/>
              <a:rect l="l" t="t" r="r" b="b"/>
              <a:pathLst>
                <a:path w="3619500" h="914400">
                  <a:moveTo>
                    <a:pt x="71298" y="0"/>
                  </a:moveTo>
                  <a:lnTo>
                    <a:pt x="3548202" y="0"/>
                  </a:lnTo>
                  <a:cubicBezTo>
                    <a:pt x="3587579" y="0"/>
                    <a:pt x="3619500" y="31921"/>
                    <a:pt x="3619500" y="71298"/>
                  </a:cubicBezTo>
                  <a:lnTo>
                    <a:pt x="3619500" y="843102"/>
                  </a:lnTo>
                  <a:cubicBezTo>
                    <a:pt x="3619500" y="882479"/>
                    <a:pt x="3587579" y="914400"/>
                    <a:pt x="3548202" y="914400"/>
                  </a:cubicBezTo>
                  <a:lnTo>
                    <a:pt x="71298" y="914400"/>
                  </a:lnTo>
                  <a:cubicBezTo>
                    <a:pt x="31921" y="914400"/>
                    <a:pt x="0" y="882479"/>
                    <a:pt x="0" y="843102"/>
                  </a:cubicBezTo>
                  <a:lnTo>
                    <a:pt x="0" y="71298"/>
                  </a:lnTo>
                  <a:cubicBezTo>
                    <a:pt x="0" y="31921"/>
                    <a:pt x="31921" y="0"/>
                    <a:pt x="71298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36195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Digital engagement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811250" y="4857750"/>
            <a:ext cx="3143250" cy="685800"/>
            <a:chOff x="0" y="0"/>
            <a:chExt cx="419100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191000" cy="914400"/>
            </a:xfrm>
            <a:custGeom>
              <a:avLst/>
              <a:gdLst/>
              <a:ahLst/>
              <a:cxnLst/>
              <a:rect l="l" t="t" r="r" b="b"/>
              <a:pathLst>
                <a:path w="4191000" h="9144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52824"/>
                  </a:lnTo>
                  <a:cubicBezTo>
                    <a:pt x="4191000" y="886832"/>
                    <a:pt x="4163432" y="914400"/>
                    <a:pt x="4129424" y="914400"/>
                  </a:cubicBezTo>
                  <a:lnTo>
                    <a:pt x="61576" y="914400"/>
                  </a:lnTo>
                  <a:cubicBezTo>
                    <a:pt x="27568" y="914400"/>
                    <a:pt x="0" y="886832"/>
                    <a:pt x="0" y="8528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28575"/>
              <a:ext cx="41910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evaluation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5857875"/>
            <a:ext cx="2714625" cy="685800"/>
            <a:chOff x="0" y="0"/>
            <a:chExt cx="3619500" cy="914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19500" cy="914400"/>
            </a:xfrm>
            <a:custGeom>
              <a:avLst/>
              <a:gdLst/>
              <a:ahLst/>
              <a:cxnLst/>
              <a:rect l="l" t="t" r="r" b="b"/>
              <a:pathLst>
                <a:path w="3619500" h="914400">
                  <a:moveTo>
                    <a:pt x="71298" y="0"/>
                  </a:moveTo>
                  <a:lnTo>
                    <a:pt x="3548202" y="0"/>
                  </a:lnTo>
                  <a:cubicBezTo>
                    <a:pt x="3587579" y="0"/>
                    <a:pt x="3619500" y="31921"/>
                    <a:pt x="3619500" y="71298"/>
                  </a:cubicBezTo>
                  <a:lnTo>
                    <a:pt x="3619500" y="843102"/>
                  </a:lnTo>
                  <a:cubicBezTo>
                    <a:pt x="3619500" y="882479"/>
                    <a:pt x="3587579" y="914400"/>
                    <a:pt x="3548202" y="914400"/>
                  </a:cubicBezTo>
                  <a:lnTo>
                    <a:pt x="71298" y="914400"/>
                  </a:lnTo>
                  <a:cubicBezTo>
                    <a:pt x="31921" y="914400"/>
                    <a:pt x="0" y="882479"/>
                    <a:pt x="0" y="843102"/>
                  </a:cubicBezTo>
                  <a:lnTo>
                    <a:pt x="0" y="71298"/>
                  </a:lnTo>
                  <a:cubicBezTo>
                    <a:pt x="0" y="31921"/>
                    <a:pt x="31921" y="0"/>
                    <a:pt x="71298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28575"/>
              <a:ext cx="36195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Sales interactions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811250" y="5857875"/>
            <a:ext cx="3143250" cy="685800"/>
            <a:chOff x="0" y="0"/>
            <a:chExt cx="41910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191000" cy="914400"/>
            </a:xfrm>
            <a:custGeom>
              <a:avLst/>
              <a:gdLst/>
              <a:ahLst/>
              <a:cxnLst/>
              <a:rect l="l" t="t" r="r" b="b"/>
              <a:pathLst>
                <a:path w="4191000" h="9144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52824"/>
                  </a:lnTo>
                  <a:cubicBezTo>
                    <a:pt x="4191000" y="886832"/>
                    <a:pt x="4163432" y="914400"/>
                    <a:pt x="4129424" y="914400"/>
                  </a:cubicBezTo>
                  <a:lnTo>
                    <a:pt x="61576" y="914400"/>
                  </a:lnTo>
                  <a:cubicBezTo>
                    <a:pt x="27568" y="914400"/>
                    <a:pt x="0" y="886832"/>
                    <a:pt x="0" y="8528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28575"/>
              <a:ext cx="41910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insights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239000" y="6858000"/>
            <a:ext cx="2714625" cy="685800"/>
            <a:chOff x="0" y="0"/>
            <a:chExt cx="3619500" cy="914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19500" cy="914400"/>
            </a:xfrm>
            <a:custGeom>
              <a:avLst/>
              <a:gdLst/>
              <a:ahLst/>
              <a:cxnLst/>
              <a:rect l="l" t="t" r="r" b="b"/>
              <a:pathLst>
                <a:path w="3619500" h="914400">
                  <a:moveTo>
                    <a:pt x="71298" y="0"/>
                  </a:moveTo>
                  <a:lnTo>
                    <a:pt x="3548202" y="0"/>
                  </a:lnTo>
                  <a:cubicBezTo>
                    <a:pt x="3587579" y="0"/>
                    <a:pt x="3619500" y="31921"/>
                    <a:pt x="3619500" y="71298"/>
                  </a:cubicBezTo>
                  <a:lnTo>
                    <a:pt x="3619500" y="843102"/>
                  </a:lnTo>
                  <a:cubicBezTo>
                    <a:pt x="3619500" y="882479"/>
                    <a:pt x="3587579" y="914400"/>
                    <a:pt x="3548202" y="914400"/>
                  </a:cubicBezTo>
                  <a:lnTo>
                    <a:pt x="71298" y="914400"/>
                  </a:lnTo>
                  <a:cubicBezTo>
                    <a:pt x="31921" y="914400"/>
                    <a:pt x="0" y="882479"/>
                    <a:pt x="0" y="843102"/>
                  </a:cubicBezTo>
                  <a:lnTo>
                    <a:pt x="0" y="71298"/>
                  </a:lnTo>
                  <a:cubicBezTo>
                    <a:pt x="0" y="31921"/>
                    <a:pt x="31921" y="0"/>
                    <a:pt x="71298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28575"/>
              <a:ext cx="36195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Buying signals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811250" y="6858000"/>
            <a:ext cx="3143250" cy="685800"/>
            <a:chOff x="0" y="0"/>
            <a:chExt cx="41910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191000" cy="914400"/>
            </a:xfrm>
            <a:custGeom>
              <a:avLst/>
              <a:gdLst/>
              <a:ahLst/>
              <a:cxnLst/>
              <a:rect l="l" t="t" r="r" b="b"/>
              <a:pathLst>
                <a:path w="4191000" h="9144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852824"/>
                  </a:lnTo>
                  <a:cubicBezTo>
                    <a:pt x="4191000" y="886832"/>
                    <a:pt x="4163432" y="914400"/>
                    <a:pt x="4129424" y="914400"/>
                  </a:cubicBezTo>
                  <a:lnTo>
                    <a:pt x="61576" y="914400"/>
                  </a:lnTo>
                  <a:cubicBezTo>
                    <a:pt x="27568" y="914400"/>
                    <a:pt x="0" y="886832"/>
                    <a:pt x="0" y="8528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28575"/>
              <a:ext cx="4191000" cy="885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Sales recommendations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715625" y="4000500"/>
            <a:ext cx="2333625" cy="2095500"/>
            <a:chOff x="0" y="0"/>
            <a:chExt cx="3111500" cy="2794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11500" cy="2794000"/>
            </a:xfrm>
            <a:custGeom>
              <a:avLst/>
              <a:gdLst/>
              <a:ahLst/>
              <a:cxnLst/>
              <a:rect l="l" t="t" r="r" b="b"/>
              <a:pathLst>
                <a:path w="3111500" h="27940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2711061"/>
                  </a:lnTo>
                  <a:cubicBezTo>
                    <a:pt x="3111500" y="2733058"/>
                    <a:pt x="3102762" y="2754154"/>
                    <a:pt x="3087208" y="2769708"/>
                  </a:cubicBezTo>
                  <a:cubicBezTo>
                    <a:pt x="3071654" y="2785262"/>
                    <a:pt x="3050558" y="2794000"/>
                    <a:pt x="3028561" y="2794000"/>
                  </a:cubicBezTo>
                  <a:lnTo>
                    <a:pt x="82939" y="2794000"/>
                  </a:lnTo>
                  <a:cubicBezTo>
                    <a:pt x="60942" y="2794000"/>
                    <a:pt x="39846" y="2785262"/>
                    <a:pt x="24292" y="2769708"/>
                  </a:cubicBezTo>
                  <a:cubicBezTo>
                    <a:pt x="8738" y="2754154"/>
                    <a:pt x="0" y="2733058"/>
                    <a:pt x="0" y="271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28575"/>
              <a:ext cx="3111500" cy="276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ANALYTICS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+ MACHINE LEARNING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>
            <a:off x="10001250" y="5095875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0" name="AutoShape 50"/>
          <p:cNvSpPr/>
          <p:nvPr/>
        </p:nvSpPr>
        <p:spPr>
          <a:xfrm>
            <a:off x="13049250" y="5095875"/>
            <a:ext cx="61912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42950"/>
            <a:ext cx="14287500" cy="6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Synthetic Data Generation &amp; Dataset Structure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09700"/>
            <a:ext cx="133350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Synthetic dataset generated using ChatGPT to simulate realistic B2B SaaS sales lead activity.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2238375"/>
            <a:ext cx="3714750" cy="1428750"/>
            <a:chOff x="0" y="0"/>
            <a:chExt cx="4953000" cy="1905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953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905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55600" y="447675"/>
              <a:ext cx="4191000" cy="664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6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20,000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1187450"/>
              <a:ext cx="4191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Raw Records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0150" y="2238375"/>
            <a:ext cx="3714750" cy="1428750"/>
            <a:chOff x="0" y="0"/>
            <a:chExt cx="4953000" cy="1905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953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905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55600" y="447675"/>
              <a:ext cx="4191000" cy="664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6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600" y="1187450"/>
              <a:ext cx="4191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Original Columns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05900" y="2238375"/>
            <a:ext cx="3714750" cy="1428750"/>
            <a:chOff x="0" y="0"/>
            <a:chExt cx="4953000" cy="1905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953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905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63A5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55600" y="447675"/>
              <a:ext cx="4191000" cy="664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6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19,269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600" y="1187450"/>
              <a:ext cx="4191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Final Records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201650" y="2238375"/>
            <a:ext cx="3714750" cy="1428750"/>
            <a:chOff x="0" y="0"/>
            <a:chExt cx="4953000" cy="1905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953000" cy="1905000"/>
              <a:chOff x="0" y="0"/>
              <a:chExt cx="4953000" cy="1905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953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905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953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55600" y="447675"/>
              <a:ext cx="4191000" cy="664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60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600" y="1187450"/>
              <a:ext cx="4191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Final Columns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4476750"/>
            <a:ext cx="5238750" cy="1619250"/>
            <a:chOff x="0" y="0"/>
            <a:chExt cx="6985000" cy="2159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985000" cy="2159000"/>
              <a:chOff x="0" y="0"/>
              <a:chExt cx="6985000" cy="2159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985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2159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6985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04800" y="307975"/>
              <a:ext cx="63754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7"/>
                </a:lnSpc>
              </a:pPr>
              <a:r>
                <a:rPr lang="en-US" sz="187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Lead &amp; Company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800" y="879475"/>
              <a:ext cx="63754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Lead_ID • Lead_Date • Industry • State • Employee_Count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4400" y="6429375"/>
            <a:ext cx="5238750" cy="1619250"/>
            <a:chOff x="0" y="0"/>
            <a:chExt cx="6985000" cy="215900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6985000" cy="2159000"/>
              <a:chOff x="0" y="0"/>
              <a:chExt cx="6985000" cy="2159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985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2159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6985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304800" y="307975"/>
              <a:ext cx="63754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7"/>
                </a:lnSpc>
              </a:pPr>
              <a:r>
                <a:rPr lang="en-US" sz="187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Acquisition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4800" y="879475"/>
              <a:ext cx="63754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Lead_Source • Campaign_Type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629400" y="4476750"/>
            <a:ext cx="5238750" cy="1619250"/>
            <a:chOff x="0" y="0"/>
            <a:chExt cx="6985000" cy="21590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6985000" cy="2159000"/>
              <a:chOff x="0" y="0"/>
              <a:chExt cx="6985000" cy="2159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6985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2159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6985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304800" y="307975"/>
              <a:ext cx="63754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7"/>
                </a:lnSpc>
              </a:pPr>
              <a:r>
                <a:rPr lang="en-US" sz="187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Engagement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4800" y="879475"/>
              <a:ext cx="6375400" cy="1150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Sales_Rep_Interactions • Previous_Interactions • Days_Since_Last_Interaction • Website_Visits • Pages_Viewed • Email_Opens • Email_Clicks • Content_Downloads • Product_Page_Visits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29400" y="6429375"/>
            <a:ext cx="5238750" cy="1619250"/>
            <a:chOff x="0" y="0"/>
            <a:chExt cx="6985000" cy="21590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6985000" cy="2159000"/>
              <a:chOff x="0" y="0"/>
              <a:chExt cx="6985000" cy="2159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69850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2159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69850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304800" y="307975"/>
              <a:ext cx="63754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7"/>
                </a:lnSpc>
              </a:pPr>
              <a:r>
                <a:rPr lang="en-US" sz="187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Buying Signals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4800" y="879475"/>
              <a:ext cx="6375400" cy="8583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Demo_Attended • Estimated_Budget • Estimated_Deal_Value • Decision_Maker • Contact_Requests • Trial_Started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344400" y="4476750"/>
            <a:ext cx="4953000" cy="1809750"/>
            <a:chOff x="0" y="0"/>
            <a:chExt cx="6604000" cy="2413000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6604000" cy="2413000"/>
              <a:chOff x="0" y="0"/>
              <a:chExt cx="6604000" cy="24130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6604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241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6604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304800" y="307975"/>
              <a:ext cx="5994400" cy="3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7"/>
                </a:lnSpc>
              </a:pPr>
              <a:r>
                <a:rPr lang="en-US" sz="187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Outcome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04800" y="879475"/>
              <a:ext cx="59944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Converted • Conversion_Date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62000"/>
            <a:ext cx="11430000" cy="64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Quality &amp; Cleaning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57325"/>
            <a:ext cx="10477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A rule-based audit protected model quality before any analysis.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2428875"/>
            <a:ext cx="3714750" cy="2857500"/>
            <a:chOff x="0" y="0"/>
            <a:chExt cx="4953000" cy="3810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953000" cy="3810000"/>
              <a:chOff x="0" y="0"/>
              <a:chExt cx="4953000" cy="381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953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81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953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7500" y="4064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15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PROBLEMS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7500" y="1187450"/>
              <a:ext cx="4191000" cy="1358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366 exact duplicates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344 repeated Lead IDs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9 future-dated records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Missing / invalid values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572000" y="3857625"/>
            <a:ext cx="5238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5191125" y="2428875"/>
            <a:ext cx="3714750" cy="2857500"/>
            <a:chOff x="0" y="0"/>
            <a:chExt cx="4953000" cy="3810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953000" cy="3810000"/>
              <a:chOff x="0" y="0"/>
              <a:chExt cx="4953000" cy="381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953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81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4953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17500" y="4064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15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VALIDATION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7500" y="1187450"/>
              <a:ext cx="4191000" cy="1358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Negative-value checks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Email Clicks ≤ Email Opens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Product Visits ≤ Website Visits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Logical consistency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8905875" y="3857625"/>
            <a:ext cx="5238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9525000" y="2428875"/>
            <a:ext cx="3714750" cy="2857500"/>
            <a:chOff x="0" y="0"/>
            <a:chExt cx="4953000" cy="3810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953000" cy="3810000"/>
              <a:chOff x="0" y="0"/>
              <a:chExt cx="4953000" cy="381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953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81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4953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17500" y="4064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15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TREATMENT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7500" y="1187450"/>
              <a:ext cx="4191000" cy="1358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Remove duplicates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Validate IDs and dates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Invalids → missing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Categoricals → Unknown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13239750" y="3857625"/>
            <a:ext cx="5238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0" name="Group 30"/>
          <p:cNvGrpSpPr/>
          <p:nvPr/>
        </p:nvGrpSpPr>
        <p:grpSpPr>
          <a:xfrm>
            <a:off x="13858875" y="2428875"/>
            <a:ext cx="3714750" cy="2857500"/>
            <a:chOff x="0" y="0"/>
            <a:chExt cx="4953000" cy="3810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4953000" cy="3810000"/>
              <a:chOff x="0" y="0"/>
              <a:chExt cx="4953000" cy="3810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953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3810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63A5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4953000" cy="384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17500" y="406400"/>
              <a:ext cx="4191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b="1" spc="215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 DATA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7500" y="1187450"/>
              <a:ext cx="4191000" cy="13586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19,269 final records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Standardized dates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Validated relationships</a:t>
              </a:r>
            </a:p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Model-ready fields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6477000"/>
            <a:ext cx="16573500" cy="1428750"/>
            <a:chOff x="0" y="0"/>
            <a:chExt cx="22098000" cy="1905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22098000" cy="1905000"/>
              <a:chOff x="0" y="0"/>
              <a:chExt cx="22098000" cy="1905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2098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19050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02D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22098000" cy="194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508000" y="434975"/>
              <a:ext cx="21082000" cy="71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IQR + DOMAIN LIMITS  •  Employee Count 5,000  •  Website Visits 100  •  Pages Viewed 200  •  Email Opens 50  •  Email Clicks 20  •  Content Downloads 20  •  Product Page Visits 50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 dirty="0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62000"/>
            <a:ext cx="11430000" cy="64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57325"/>
            <a:ext cx="1238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Correlation structure reveals where engagement and commercial value move together.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715750" y="2238375"/>
            <a:ext cx="5715000" cy="1123950"/>
            <a:chOff x="0" y="0"/>
            <a:chExt cx="7620000" cy="14986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620000" cy="1498600"/>
              <a:chOff x="0" y="0"/>
              <a:chExt cx="7620000" cy="1498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620000" cy="149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14986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1498600"/>
                    </a:lnTo>
                    <a:lnTo>
                      <a:pt x="0" y="14986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7620000" cy="153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1000" y="374650"/>
              <a:ext cx="1778000" cy="613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300" b="1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0.94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6000" y="425450"/>
              <a:ext cx="4953000" cy="648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Estimated Budget ↔ Estimated Deal Value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715750" y="3619500"/>
            <a:ext cx="5715000" cy="1123950"/>
            <a:chOff x="0" y="0"/>
            <a:chExt cx="7620000" cy="14986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620000" cy="1498600"/>
              <a:chOff x="0" y="0"/>
              <a:chExt cx="7620000" cy="14986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620000" cy="149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14986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1498600"/>
                    </a:lnTo>
                    <a:lnTo>
                      <a:pt x="0" y="14986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7620000" cy="153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81000" y="374650"/>
              <a:ext cx="1778000" cy="613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300" b="1">
                  <a:solidFill>
                    <a:srgbClr val="60A5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0.93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86000" y="425450"/>
              <a:ext cx="4953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Website Visits ↔ Pages Viewed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15750" y="5000625"/>
            <a:ext cx="5715000" cy="1123950"/>
            <a:chOff x="0" y="0"/>
            <a:chExt cx="7620000" cy="14986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7620000" cy="1498600"/>
              <a:chOff x="0" y="0"/>
              <a:chExt cx="7620000" cy="149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620000" cy="149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14986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1498600"/>
                    </a:lnTo>
                    <a:lnTo>
                      <a:pt x="0" y="14986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7620000" cy="153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81000" y="374650"/>
              <a:ext cx="1778000" cy="613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300" b="1">
                  <a:solidFill>
                    <a:srgbClr val="60A5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0.84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86000" y="425450"/>
              <a:ext cx="4953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Website Visits ↔ Product Page Visits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715750" y="6381750"/>
            <a:ext cx="5715000" cy="1123950"/>
            <a:chOff x="0" y="0"/>
            <a:chExt cx="7620000" cy="14986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7620000" cy="1498600"/>
              <a:chOff x="0" y="0"/>
              <a:chExt cx="7620000" cy="149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620000" cy="14986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14986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1498600"/>
                    </a:lnTo>
                    <a:lnTo>
                      <a:pt x="0" y="14986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7620000" cy="1536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81000" y="374650"/>
              <a:ext cx="1778000" cy="613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300" b="1">
                  <a:solidFill>
                    <a:srgbClr val="60A5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0.83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6000" y="425450"/>
              <a:ext cx="4953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F8FAFC"/>
                  </a:solidFill>
                  <a:latin typeface="DM Sans"/>
                  <a:ea typeface="DM Sans"/>
                  <a:cs typeface="DM Sans"/>
                  <a:sym typeface="DM Sans"/>
                </a:rPr>
                <a:t>Employee Count ↔ Estimated Budget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001500" y="8029575"/>
            <a:ext cx="3810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CONVERSION CORRELATIONS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001500" y="8410575"/>
            <a:ext cx="5143500" cy="62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Website Visits .42  •  Pages Viewed .39  •  Content Downloads .37  •  Product Page Visits .35  •  Previous Interactions .30  •  Contact Requests .28  •  Sales Rep Interactions .15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0A228D8-4695-DF0F-C0A7-1B8C8B216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31" y="2209799"/>
            <a:ext cx="10395769" cy="6870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52475"/>
            <a:ext cx="12382500" cy="63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9"/>
              </a:lnSpc>
            </a:pPr>
            <a:r>
              <a:rPr lang="en-US" sz="46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Conversion Patterns in the 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57325"/>
            <a:ext cx="476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OBSERVED CONVERSION RATES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32" y="1429718"/>
            <a:ext cx="11258365" cy="723706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602" y="1747824"/>
            <a:ext cx="7560546" cy="660085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428750" y="8601075"/>
            <a:ext cx="152400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18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Observed conversion increased across higher-budget and larger-company segments in this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52475"/>
            <a:ext cx="10001250" cy="67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49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57325"/>
            <a:ext cx="123825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Business logic converts raw activity into stable, pre-outcome model signals.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3429000"/>
            <a:ext cx="2857500" cy="1428750"/>
            <a:chOff x="0" y="0"/>
            <a:chExt cx="3810000" cy="190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837267"/>
                  </a:lnTo>
                  <a:cubicBezTo>
                    <a:pt x="3810000" y="1855231"/>
                    <a:pt x="3802864" y="1872459"/>
                    <a:pt x="3790161" y="1885161"/>
                  </a:cubicBezTo>
                  <a:cubicBezTo>
                    <a:pt x="3777459" y="1897864"/>
                    <a:pt x="3760231" y="1905000"/>
                    <a:pt x="3742267" y="1905000"/>
                  </a:cubicBezTo>
                  <a:lnTo>
                    <a:pt x="67733" y="1905000"/>
                  </a:lnTo>
                  <a:cubicBezTo>
                    <a:pt x="49769" y="1905000"/>
                    <a:pt x="32541" y="1897864"/>
                    <a:pt x="19839" y="1885161"/>
                  </a:cubicBezTo>
                  <a:cubicBezTo>
                    <a:pt x="7136" y="1872459"/>
                    <a:pt x="0" y="1855231"/>
                    <a:pt x="0" y="1837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3810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VARIABLES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0" y="3429000"/>
            <a:ext cx="2857500" cy="1428750"/>
            <a:chOff x="0" y="0"/>
            <a:chExt cx="3810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837267"/>
                  </a:lnTo>
                  <a:cubicBezTo>
                    <a:pt x="3810000" y="1855231"/>
                    <a:pt x="3802864" y="1872459"/>
                    <a:pt x="3790161" y="1885161"/>
                  </a:cubicBezTo>
                  <a:cubicBezTo>
                    <a:pt x="3777459" y="1897864"/>
                    <a:pt x="3760231" y="1905000"/>
                    <a:pt x="3742267" y="1905000"/>
                  </a:cubicBezTo>
                  <a:lnTo>
                    <a:pt x="67733" y="1905000"/>
                  </a:lnTo>
                  <a:cubicBezTo>
                    <a:pt x="49769" y="1905000"/>
                    <a:pt x="32541" y="1897864"/>
                    <a:pt x="19839" y="1885161"/>
                  </a:cubicBezTo>
                  <a:cubicBezTo>
                    <a:pt x="7136" y="1872459"/>
                    <a:pt x="0" y="1855231"/>
                    <a:pt x="0" y="1837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3810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LOGIC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10750" y="3429000"/>
            <a:ext cx="3143250" cy="1428750"/>
            <a:chOff x="0" y="0"/>
            <a:chExt cx="4191000" cy="190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61576" y="0"/>
                  </a:moveTo>
                  <a:lnTo>
                    <a:pt x="4129424" y="0"/>
                  </a:lnTo>
                  <a:cubicBezTo>
                    <a:pt x="4163432" y="0"/>
                    <a:pt x="4191000" y="27568"/>
                    <a:pt x="4191000" y="61576"/>
                  </a:cubicBezTo>
                  <a:lnTo>
                    <a:pt x="4191000" y="1843424"/>
                  </a:lnTo>
                  <a:cubicBezTo>
                    <a:pt x="4191000" y="1877432"/>
                    <a:pt x="4163432" y="1905000"/>
                    <a:pt x="4129424" y="1905000"/>
                  </a:cubicBezTo>
                  <a:lnTo>
                    <a:pt x="61576" y="1905000"/>
                  </a:lnTo>
                  <a:cubicBezTo>
                    <a:pt x="27568" y="1905000"/>
                    <a:pt x="0" y="1877432"/>
                    <a:pt x="0" y="1843424"/>
                  </a:cubicBezTo>
                  <a:lnTo>
                    <a:pt x="0" y="61576"/>
                  </a:lnTo>
                  <a:cubicBezTo>
                    <a:pt x="0" y="27568"/>
                    <a:pt x="27568" y="0"/>
                    <a:pt x="61576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28575"/>
              <a:ext cx="4191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ENGINEERED FEATURES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573250" y="3429000"/>
            <a:ext cx="2857500" cy="1428750"/>
            <a:chOff x="0" y="0"/>
            <a:chExt cx="3810000" cy="1905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10000" cy="1905000"/>
            </a:xfrm>
            <a:custGeom>
              <a:avLst/>
              <a:gdLst/>
              <a:ahLst/>
              <a:cxnLst/>
              <a:rect l="l" t="t" r="r" b="b"/>
              <a:pathLst>
                <a:path w="3810000" h="1905000">
                  <a:moveTo>
                    <a:pt x="67733" y="0"/>
                  </a:moveTo>
                  <a:lnTo>
                    <a:pt x="3742267" y="0"/>
                  </a:lnTo>
                  <a:cubicBezTo>
                    <a:pt x="3760231" y="0"/>
                    <a:pt x="3777459" y="7136"/>
                    <a:pt x="3790161" y="19839"/>
                  </a:cubicBezTo>
                  <a:cubicBezTo>
                    <a:pt x="3802864" y="32541"/>
                    <a:pt x="3810000" y="49769"/>
                    <a:pt x="3810000" y="67733"/>
                  </a:cubicBezTo>
                  <a:lnTo>
                    <a:pt x="3810000" y="1837267"/>
                  </a:lnTo>
                  <a:cubicBezTo>
                    <a:pt x="3810000" y="1855231"/>
                    <a:pt x="3802864" y="1872459"/>
                    <a:pt x="3790161" y="1885161"/>
                  </a:cubicBezTo>
                  <a:cubicBezTo>
                    <a:pt x="3777459" y="1897864"/>
                    <a:pt x="3760231" y="1905000"/>
                    <a:pt x="3742267" y="1905000"/>
                  </a:cubicBezTo>
                  <a:lnTo>
                    <a:pt x="67733" y="1905000"/>
                  </a:lnTo>
                  <a:cubicBezTo>
                    <a:pt x="49769" y="1905000"/>
                    <a:pt x="32541" y="1897864"/>
                    <a:pt x="19839" y="1885161"/>
                  </a:cubicBezTo>
                  <a:cubicBezTo>
                    <a:pt x="7136" y="1872459"/>
                    <a:pt x="0" y="1855231"/>
                    <a:pt x="0" y="1837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3810000" cy="187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ML-READY DATASET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3714750" y="4143375"/>
            <a:ext cx="14763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AutoShape 22"/>
          <p:cNvSpPr/>
          <p:nvPr/>
        </p:nvSpPr>
        <p:spPr>
          <a:xfrm>
            <a:off x="8191500" y="4143375"/>
            <a:ext cx="14763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AutoShape 23"/>
          <p:cNvSpPr/>
          <p:nvPr/>
        </p:nvSpPr>
        <p:spPr>
          <a:xfrm>
            <a:off x="12954000" y="4143375"/>
            <a:ext cx="147637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TextBox 24"/>
          <p:cNvSpPr txBox="1"/>
          <p:nvPr/>
        </p:nvSpPr>
        <p:spPr>
          <a:xfrm>
            <a:off x="1143000" y="6172200"/>
            <a:ext cx="4953000" cy="5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Total Interactions = Previous Interactions + Sales Rep Interactions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19875" y="6172200"/>
            <a:ext cx="4953000" cy="5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Digital Engagement Score = normalized composite of five digital behaviors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96750" y="6172200"/>
            <a:ext cx="4953000" cy="5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Budget per Employee = Estimated Budget ÷ Employee Count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000" y="7219950"/>
            <a:ext cx="4953000" cy="5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Deal-to-Budget Ratio = Estimated Deal Value ÷ Estimated Budget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19875" y="7219950"/>
            <a:ext cx="4953000" cy="25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Company Size derived from Employee Count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34000" y="8439150"/>
            <a:ext cx="11430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Temporary EDA grouping variables excluded • Features use only pre-outcome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52475"/>
            <a:ext cx="12858750" cy="63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9"/>
              </a:lnSpc>
            </a:pPr>
            <a:r>
              <a:rPr lang="en-US" sz="46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End-to-End Project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457325"/>
            <a:ext cx="1143000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From synthetic data generation to an accessible live application.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2500" y="2895600"/>
            <a:ext cx="2667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 dirty="0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DATA PREPRATION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191000" y="2476500"/>
            <a:ext cx="2667000" cy="1143000"/>
            <a:chOff x="0" y="0"/>
            <a:chExt cx="3556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ChatGPT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6858000" y="30480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7524750" y="2476500"/>
            <a:ext cx="2667000" cy="1143000"/>
            <a:chOff x="0" y="0"/>
            <a:chExt cx="3556000" cy="152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Synthetic Dataset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0191750" y="30480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0858500" y="2476500"/>
            <a:ext cx="2667000" cy="1143000"/>
            <a:chOff x="0" y="0"/>
            <a:chExt cx="3556000" cy="152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 / Pandas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13525500" y="30480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4192250" y="2476500"/>
            <a:ext cx="2667000" cy="1143000"/>
            <a:chOff x="0" y="0"/>
            <a:chExt cx="3556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Cleaning + EDA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52500" y="4991100"/>
            <a:ext cx="2667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 dirty="0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 LEARNING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191000" y="4572000"/>
            <a:ext cx="2667000" cy="1143000"/>
            <a:chOff x="0" y="0"/>
            <a:chExt cx="3556000" cy="152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Feature Engineering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6858000" y="51435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0" name="Group 30"/>
          <p:cNvGrpSpPr/>
          <p:nvPr/>
        </p:nvGrpSpPr>
        <p:grpSpPr>
          <a:xfrm>
            <a:off x="7524750" y="4572000"/>
            <a:ext cx="2667000" cy="1143000"/>
            <a:chOff x="0" y="0"/>
            <a:chExt cx="3556000" cy="1524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Classification + Clustering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0191750" y="51435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4" name="Group 34"/>
          <p:cNvGrpSpPr/>
          <p:nvPr/>
        </p:nvGrpSpPr>
        <p:grpSpPr>
          <a:xfrm>
            <a:off x="10858500" y="4572000"/>
            <a:ext cx="2667000" cy="1143000"/>
            <a:chOff x="0" y="0"/>
            <a:chExt cx="35560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Evaluation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13525500" y="51435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8" name="Group 38"/>
          <p:cNvGrpSpPr/>
          <p:nvPr/>
        </p:nvGrpSpPr>
        <p:grpSpPr>
          <a:xfrm>
            <a:off x="14192250" y="4572000"/>
            <a:ext cx="2667000" cy="1143000"/>
            <a:chOff x="0" y="0"/>
            <a:chExt cx="3556000" cy="1524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Insights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19316" y="7047657"/>
            <a:ext cx="2876550" cy="436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00" b="1" spc="144" dirty="0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&amp; DEPLOYMENT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191000" y="6667500"/>
            <a:ext cx="2667000" cy="1143000"/>
            <a:chOff x="0" y="0"/>
            <a:chExt cx="3556000" cy="1524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Streamlit Application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>
            <a:off x="6858000" y="72390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6" name="Group 46"/>
          <p:cNvGrpSpPr/>
          <p:nvPr/>
        </p:nvGrpSpPr>
        <p:grpSpPr>
          <a:xfrm>
            <a:off x="7524750" y="6667500"/>
            <a:ext cx="2667000" cy="1143000"/>
            <a:chOff x="0" y="0"/>
            <a:chExt cx="3556000" cy="1524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GitHub Repository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>
            <a:off x="10191750" y="72390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0" name="Group 50"/>
          <p:cNvGrpSpPr/>
          <p:nvPr/>
        </p:nvGrpSpPr>
        <p:grpSpPr>
          <a:xfrm>
            <a:off x="10858500" y="6667500"/>
            <a:ext cx="2667000" cy="1143000"/>
            <a:chOff x="0" y="0"/>
            <a:chExt cx="3556000" cy="1524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Streamlit Cloud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>
            <a:off x="13525500" y="7239000"/>
            <a:ext cx="57150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4" name="Group 54"/>
          <p:cNvGrpSpPr/>
          <p:nvPr/>
        </p:nvGrpSpPr>
        <p:grpSpPr>
          <a:xfrm>
            <a:off x="14192250" y="6667500"/>
            <a:ext cx="2667000" cy="1143000"/>
            <a:chOff x="0" y="0"/>
            <a:chExt cx="3556000" cy="1524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556000" cy="1524000"/>
            </a:xfrm>
            <a:custGeom>
              <a:avLst/>
              <a:gdLst/>
              <a:ahLst/>
              <a:cxnLst/>
              <a:rect l="l" t="t" r="r" b="b"/>
              <a:pathLst>
                <a:path w="3556000" h="1524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451429"/>
                  </a:lnTo>
                  <a:cubicBezTo>
                    <a:pt x="3556000" y="1470676"/>
                    <a:pt x="3548354" y="1489135"/>
                    <a:pt x="3534744" y="1502744"/>
                  </a:cubicBezTo>
                  <a:cubicBezTo>
                    <a:pt x="3521135" y="1516354"/>
                    <a:pt x="3502676" y="1524000"/>
                    <a:pt x="3483428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28575"/>
              <a:ext cx="3556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Live Web Application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14750" y="8839200"/>
            <a:ext cx="13335000" cy="2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500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NumPy  •  Scikit-learn  •  XGBoost  •  K-Means  •  Plotly  •  Streamlit  •  GitHub  •  Streamlit Cloud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762000"/>
            <a:ext cx="11906250" cy="64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80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Lead Conversion Prediction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2000" y="1952625"/>
            <a:ext cx="6286500" cy="2952750"/>
            <a:chOff x="0" y="0"/>
            <a:chExt cx="8382000" cy="3937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382000" cy="3937000"/>
              <a:chOff x="0" y="0"/>
              <a:chExt cx="8382000" cy="393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382000" cy="3937000"/>
              </a:xfrm>
              <a:custGeom>
                <a:avLst/>
                <a:gdLst/>
                <a:ahLst/>
                <a:cxnLst/>
                <a:rect l="l" t="t" r="r" b="b"/>
                <a:pathLst>
                  <a:path w="8382000" h="3937000">
                    <a:moveTo>
                      <a:pt x="0" y="0"/>
                    </a:moveTo>
                    <a:lnTo>
                      <a:pt x="8382000" y="0"/>
                    </a:lnTo>
                    <a:lnTo>
                      <a:pt x="8382000" y="3937000"/>
                    </a:lnTo>
                    <a:lnTo>
                      <a:pt x="0" y="3937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382000" cy="397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279400"/>
              <a:ext cx="4445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79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OBJECTIVE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00" y="927100"/>
              <a:ext cx="7366000" cy="963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82"/>
                </a:lnSpc>
              </a:pPr>
              <a:r>
                <a:rPr lang="en-US" sz="26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Estimate the probability a lead will convert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00" y="2530475"/>
              <a:ext cx="5715000" cy="355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Binary classification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47750" y="5695950"/>
            <a:ext cx="5905500" cy="76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MODELS EVALUATED</a:t>
            </a:r>
          </a:p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Logistic Regression  •  Decision Tree  •  Random Forest  •  Gradient Boosting  •  XGBoost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7750" y="7315200"/>
            <a:ext cx="5905500" cy="102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IMPORTANT FEATURES</a:t>
            </a:r>
          </a:p>
          <a:p>
            <a:pPr algn="l">
              <a:lnSpc>
                <a:spcPts val="2079"/>
              </a:lnSpc>
            </a:pPr>
            <a:r>
              <a:rPr lang="en-US" sz="1575">
                <a:solidFill>
                  <a:srgbClr val="AFC0D4"/>
                </a:solidFill>
                <a:latin typeface="DM Sans"/>
                <a:ea typeface="DM Sans"/>
                <a:cs typeface="DM Sans"/>
                <a:sym typeface="DM Sans"/>
              </a:rPr>
              <a:t>Digital Engagement Score  •  Demo Attended  •  Sales Rep Interactions  •  Trial Started  •  Decision Maker  •  Contact Requests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334375" y="2476500"/>
            <a:ext cx="2381250" cy="1238250"/>
            <a:chOff x="0" y="0"/>
            <a:chExt cx="3175000" cy="165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569720"/>
                  </a:lnTo>
                  <a:cubicBezTo>
                    <a:pt x="3175000" y="1591277"/>
                    <a:pt x="3166437" y="1611951"/>
                    <a:pt x="3151194" y="1627194"/>
                  </a:cubicBezTo>
                  <a:cubicBezTo>
                    <a:pt x="3135951" y="1642437"/>
                    <a:pt x="3115277" y="1651000"/>
                    <a:pt x="3093720" y="1651000"/>
                  </a:cubicBezTo>
                  <a:lnTo>
                    <a:pt x="81280" y="1651000"/>
                  </a:lnTo>
                  <a:cubicBezTo>
                    <a:pt x="36390" y="1651000"/>
                    <a:pt x="0" y="1614610"/>
                    <a:pt x="0" y="1569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3175000" cy="16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Lead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Information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0715625" y="309562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1334750" y="2476500"/>
            <a:ext cx="2381250" cy="1238250"/>
            <a:chOff x="0" y="0"/>
            <a:chExt cx="3175000" cy="1651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569720"/>
                  </a:lnTo>
                  <a:cubicBezTo>
                    <a:pt x="3175000" y="1591277"/>
                    <a:pt x="3166437" y="1611951"/>
                    <a:pt x="3151194" y="1627194"/>
                  </a:cubicBezTo>
                  <a:cubicBezTo>
                    <a:pt x="3135951" y="1642437"/>
                    <a:pt x="3115277" y="1651000"/>
                    <a:pt x="3093720" y="1651000"/>
                  </a:cubicBezTo>
                  <a:lnTo>
                    <a:pt x="81280" y="1651000"/>
                  </a:lnTo>
                  <a:cubicBezTo>
                    <a:pt x="36390" y="1651000"/>
                    <a:pt x="0" y="1614610"/>
                    <a:pt x="0" y="1569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3175000" cy="16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Preprocessing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3716000" y="309562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4335125" y="2476500"/>
            <a:ext cx="2381250" cy="1238250"/>
            <a:chOff x="0" y="0"/>
            <a:chExt cx="3175000" cy="165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569720"/>
                  </a:lnTo>
                  <a:cubicBezTo>
                    <a:pt x="3175000" y="1591277"/>
                    <a:pt x="3166437" y="1611951"/>
                    <a:pt x="3151194" y="1627194"/>
                  </a:cubicBezTo>
                  <a:cubicBezTo>
                    <a:pt x="3135951" y="1642437"/>
                    <a:pt x="3115277" y="1651000"/>
                    <a:pt x="3093720" y="1651000"/>
                  </a:cubicBezTo>
                  <a:lnTo>
                    <a:pt x="81280" y="1651000"/>
                  </a:lnTo>
                  <a:cubicBezTo>
                    <a:pt x="36390" y="1651000"/>
                    <a:pt x="0" y="1614610"/>
                    <a:pt x="0" y="1569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28575"/>
              <a:ext cx="3175000" cy="16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Feature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Engineering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34375" y="5619750"/>
            <a:ext cx="2381250" cy="1238250"/>
            <a:chOff x="0" y="0"/>
            <a:chExt cx="3175000" cy="1651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569720"/>
                  </a:lnTo>
                  <a:cubicBezTo>
                    <a:pt x="3175000" y="1591277"/>
                    <a:pt x="3166437" y="1611951"/>
                    <a:pt x="3151194" y="1627194"/>
                  </a:cubicBezTo>
                  <a:cubicBezTo>
                    <a:pt x="3135951" y="1642437"/>
                    <a:pt x="3115277" y="1651000"/>
                    <a:pt x="3093720" y="1651000"/>
                  </a:cubicBezTo>
                  <a:lnTo>
                    <a:pt x="81280" y="1651000"/>
                  </a:lnTo>
                  <a:cubicBezTo>
                    <a:pt x="36390" y="1651000"/>
                    <a:pt x="0" y="1614610"/>
                    <a:pt x="0" y="1569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3175000" cy="16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Classification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10715625" y="623887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11334750" y="5619750"/>
            <a:ext cx="2381250" cy="1238250"/>
            <a:chOff x="0" y="0"/>
            <a:chExt cx="3175000" cy="1651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569720"/>
                  </a:lnTo>
                  <a:cubicBezTo>
                    <a:pt x="3175000" y="1591277"/>
                    <a:pt x="3166437" y="1611951"/>
                    <a:pt x="3151194" y="1627194"/>
                  </a:cubicBezTo>
                  <a:cubicBezTo>
                    <a:pt x="3135951" y="1642437"/>
                    <a:pt x="3115277" y="1651000"/>
                    <a:pt x="3093720" y="1651000"/>
                  </a:cubicBezTo>
                  <a:lnTo>
                    <a:pt x="81280" y="1651000"/>
                  </a:lnTo>
                  <a:cubicBezTo>
                    <a:pt x="36390" y="1651000"/>
                    <a:pt x="0" y="1614610"/>
                    <a:pt x="0" y="1569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28575"/>
              <a:ext cx="3175000" cy="16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Conversion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Probability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13716000" y="6238875"/>
            <a:ext cx="476250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6" name="Group 36"/>
          <p:cNvGrpSpPr/>
          <p:nvPr/>
        </p:nvGrpSpPr>
        <p:grpSpPr>
          <a:xfrm>
            <a:off x="14335125" y="5619750"/>
            <a:ext cx="2381250" cy="1238250"/>
            <a:chOff x="0" y="0"/>
            <a:chExt cx="3175000" cy="1651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75000" cy="1651000"/>
            </a:xfrm>
            <a:custGeom>
              <a:avLst/>
              <a:gdLst/>
              <a:ahLst/>
              <a:cxnLst/>
              <a:rect l="l" t="t" r="r" b="b"/>
              <a:pathLst>
                <a:path w="3175000" h="1651000">
                  <a:moveTo>
                    <a:pt x="81280" y="0"/>
                  </a:moveTo>
                  <a:lnTo>
                    <a:pt x="3093720" y="0"/>
                  </a:lnTo>
                  <a:cubicBezTo>
                    <a:pt x="3115277" y="0"/>
                    <a:pt x="3135951" y="8563"/>
                    <a:pt x="3151194" y="23806"/>
                  </a:cubicBezTo>
                  <a:cubicBezTo>
                    <a:pt x="3166437" y="39049"/>
                    <a:pt x="3175000" y="59723"/>
                    <a:pt x="3175000" y="81280"/>
                  </a:cubicBezTo>
                  <a:lnTo>
                    <a:pt x="3175000" y="1569720"/>
                  </a:lnTo>
                  <a:cubicBezTo>
                    <a:pt x="3175000" y="1591277"/>
                    <a:pt x="3166437" y="1611951"/>
                    <a:pt x="3151194" y="1627194"/>
                  </a:cubicBezTo>
                  <a:cubicBezTo>
                    <a:pt x="3135951" y="1642437"/>
                    <a:pt x="3115277" y="1651000"/>
                    <a:pt x="3093720" y="1651000"/>
                  </a:cubicBezTo>
                  <a:lnTo>
                    <a:pt x="81280" y="1651000"/>
                  </a:lnTo>
                  <a:cubicBezTo>
                    <a:pt x="36390" y="1651000"/>
                    <a:pt x="0" y="1614610"/>
                    <a:pt x="0" y="1569720"/>
                  </a:cubicBezTo>
                  <a:lnTo>
                    <a:pt x="0" y="81280"/>
                  </a:lnTo>
                  <a:cubicBezTo>
                    <a:pt x="0" y="36390"/>
                    <a:pt x="36390" y="0"/>
                    <a:pt x="81280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28575"/>
              <a:ext cx="3175000" cy="1622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Sales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Prioritization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>
            <a:off x="13096875" y="3714750"/>
            <a:ext cx="0" cy="1762125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628650"/>
            <a:ext cx="13335000" cy="6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Classification Model Performance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7250" y="1476375"/>
            <a:ext cx="2952750" cy="1238250"/>
            <a:chOff x="0" y="0"/>
            <a:chExt cx="3937000" cy="165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937000" cy="1651000"/>
              <a:chOff x="0" y="0"/>
              <a:chExt cx="3937000" cy="165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37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1651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3937000" cy="168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54000" y="374650"/>
              <a:ext cx="3429000" cy="53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9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73.88%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000" y="1006475"/>
              <a:ext cx="34290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Accuracy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91000" y="1476375"/>
            <a:ext cx="2952750" cy="1238250"/>
            <a:chOff x="0" y="0"/>
            <a:chExt cx="3937000" cy="1651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937000" cy="1651000"/>
              <a:chOff x="0" y="0"/>
              <a:chExt cx="3937000" cy="1651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937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1651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3937000" cy="168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54000" y="374650"/>
              <a:ext cx="3429000" cy="53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9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70.56%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4000" y="1006475"/>
              <a:ext cx="34290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Precision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24750" y="1476375"/>
            <a:ext cx="2952750" cy="1238250"/>
            <a:chOff x="0" y="0"/>
            <a:chExt cx="3937000" cy="1651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937000" cy="1651000"/>
              <a:chOff x="0" y="0"/>
              <a:chExt cx="3937000" cy="1651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937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1651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3937000" cy="168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54000" y="374650"/>
              <a:ext cx="3429000" cy="53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9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57.42%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000" y="1006475"/>
              <a:ext cx="34290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Recall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858500" y="1476375"/>
            <a:ext cx="2952750" cy="1238250"/>
            <a:chOff x="0" y="0"/>
            <a:chExt cx="3937000" cy="1651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3937000" cy="1651000"/>
              <a:chOff x="0" y="0"/>
              <a:chExt cx="3937000" cy="1651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937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1651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3937000" cy="168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4000" y="374650"/>
              <a:ext cx="3429000" cy="53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9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63.31%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4000" y="1006475"/>
              <a:ext cx="34290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F1-Score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192250" y="1476375"/>
            <a:ext cx="2952750" cy="1238250"/>
            <a:chOff x="0" y="0"/>
            <a:chExt cx="3937000" cy="16510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3937000" cy="1651000"/>
              <a:chOff x="0" y="0"/>
              <a:chExt cx="3937000" cy="1651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937000" cy="16510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1651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163A5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3937000" cy="168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54000" y="374650"/>
              <a:ext cx="3429000" cy="53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925" b="1">
                  <a:solidFill>
                    <a:srgbClr val="22D3E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78.91%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4000" y="1006475"/>
              <a:ext cx="3429000" cy="274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ROC-AUC</a:t>
              </a:r>
            </a:p>
          </p:txBody>
        </p:sp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361" y="2485979"/>
            <a:ext cx="10129222" cy="6077041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10096500" y="3143250"/>
            <a:ext cx="6667500" cy="4381500"/>
            <a:chOff x="0" y="0"/>
            <a:chExt cx="8890000" cy="584200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8890000" cy="5842000"/>
              <a:chOff x="0" y="0"/>
              <a:chExt cx="8890000" cy="5842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890000" cy="5842000"/>
              </a:xfrm>
              <a:custGeom>
                <a:avLst/>
                <a:gdLst/>
                <a:ahLst/>
                <a:cxnLst/>
                <a:rect l="l" t="t" r="r" b="b"/>
                <a:pathLst>
                  <a:path w="8890000" h="5842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5842000"/>
                    </a:lnTo>
                    <a:lnTo>
                      <a:pt x="0" y="5842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8890000" cy="588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635000" y="215900"/>
              <a:ext cx="6350000" cy="342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 spc="179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CONFUSION MATRIX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48000" y="1260475"/>
              <a:ext cx="2540000" cy="298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Predicted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15000" y="1260475"/>
              <a:ext cx="2540000" cy="298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1"/>
                </a:lnSpc>
              </a:pPr>
              <a:r>
                <a:rPr lang="en-US" sz="1425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Predicted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000" y="2403475"/>
              <a:ext cx="2032000" cy="298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Actual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8000" y="3800475"/>
              <a:ext cx="2032000" cy="298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Actual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48000" y="2333625"/>
              <a:ext cx="2540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26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1,958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15000" y="2333625"/>
              <a:ext cx="2540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26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383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48000" y="3730625"/>
              <a:ext cx="2540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26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652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15000" y="3730625"/>
              <a:ext cx="2540000" cy="485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2625" b="1">
                  <a:solidFill>
                    <a:srgbClr val="22C5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861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0" y="5133975"/>
              <a:ext cx="7620000" cy="298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0 = Not Converted   •   1 = Converted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477500" y="7686675"/>
            <a:ext cx="619125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CROSS-VALIDATION ROC-AUC  79.07%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2500" y="8553450"/>
            <a:ext cx="16383000" cy="25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Gradient Boosting selected for the application based on cross-validation and overall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628650"/>
            <a:ext cx="12858750" cy="6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1"/>
              </a:lnSpc>
            </a:pPr>
            <a:r>
              <a:rPr lang="en-US" sz="4350" b="1" dirty="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Lead Segmentation Using K-Means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708145"/>
            <a:ext cx="7027432" cy="521726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180" y="2708145"/>
            <a:ext cx="6369808" cy="48176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3564521" y="3187112"/>
            <a:ext cx="3885277" cy="1905000"/>
            <a:chOff x="0" y="0"/>
            <a:chExt cx="4826000" cy="2540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826000" cy="2540000"/>
              <a:chOff x="0" y="0"/>
              <a:chExt cx="4826000" cy="254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26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826000" h="2540000">
                    <a:moveTo>
                      <a:pt x="0" y="0"/>
                    </a:moveTo>
                    <a:lnTo>
                      <a:pt x="4826000" y="0"/>
                    </a:lnTo>
                    <a:lnTo>
                      <a:pt x="482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26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81000" y="400050"/>
              <a:ext cx="4191000" cy="604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49"/>
                </a:lnSpc>
              </a:pPr>
              <a:r>
                <a:rPr lang="en-US" sz="16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HIGH-INTENT / HIGHLY ENGAGED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1000" y="1504950"/>
              <a:ext cx="4191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5,119 leads  •  26.57%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000" y="2139950"/>
              <a:ext cx="4191000" cy="329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75" b="1">
                  <a:solidFill>
                    <a:srgbClr val="22C55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Observed conversion: 68.12%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12146" y="5562917"/>
            <a:ext cx="3837653" cy="1905000"/>
            <a:chOff x="0" y="0"/>
            <a:chExt cx="4826000" cy="2540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4826000" cy="2540000"/>
              <a:chOff x="0" y="0"/>
              <a:chExt cx="4826000" cy="254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826000" cy="2540000"/>
              </a:xfrm>
              <a:custGeom>
                <a:avLst/>
                <a:gdLst/>
                <a:ahLst/>
                <a:cxnLst/>
                <a:rect l="l" t="t" r="r" b="b"/>
                <a:pathLst>
                  <a:path w="4826000" h="2540000">
                    <a:moveTo>
                      <a:pt x="0" y="0"/>
                    </a:moveTo>
                    <a:lnTo>
                      <a:pt x="4826000" y="0"/>
                    </a:lnTo>
                    <a:lnTo>
                      <a:pt x="482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4826000" cy="257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400050"/>
              <a:ext cx="4191000" cy="604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49"/>
                </a:lnSpc>
              </a:pPr>
              <a:r>
                <a:rPr lang="en-US" sz="1650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LOW-ENGAGEMENT / NURTURE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000" y="1504950"/>
              <a:ext cx="4191000" cy="31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500">
                  <a:solidFill>
                    <a:srgbClr val="AFC0D4"/>
                  </a:solidFill>
                  <a:latin typeface="DM Sans"/>
                  <a:ea typeface="DM Sans"/>
                  <a:cs typeface="DM Sans"/>
                  <a:sym typeface="DM Sans"/>
                </a:rPr>
                <a:t>14,150 leads  •  73.43%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1000" y="2139950"/>
              <a:ext cx="4191000" cy="329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9"/>
                </a:lnSpc>
              </a:pPr>
              <a:r>
                <a:rPr lang="en-US" sz="1575" b="1">
                  <a:solidFill>
                    <a:srgbClr val="F59E0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Observed conversion: 28.81%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EFCB431-C224-A73D-800A-49C0282F7040}"/>
              </a:ext>
            </a:extLst>
          </p:cNvPr>
          <p:cNvGrpSpPr/>
          <p:nvPr/>
        </p:nvGrpSpPr>
        <p:grpSpPr>
          <a:xfrm>
            <a:off x="13563600" y="1166671"/>
            <a:ext cx="4324350" cy="1541474"/>
            <a:chOff x="11620500" y="1933575"/>
            <a:chExt cx="5238750" cy="1356360"/>
          </a:xfrm>
        </p:grpSpPr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550E371B-A97E-0A1A-6FD0-0A0825237A95}"/>
                </a:ext>
              </a:extLst>
            </p:cNvPr>
            <p:cNvSpPr txBox="1"/>
            <p:nvPr/>
          </p:nvSpPr>
          <p:spPr>
            <a:xfrm>
              <a:off x="11620500" y="1933575"/>
              <a:ext cx="5238750" cy="638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 b="1" dirty="0">
                  <a:solidFill>
                    <a:srgbClr val="25C7E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 = 2 selected</a:t>
              </a:r>
            </a:p>
          </p:txBody>
        </p:sp>
        <p:sp>
          <p:nvSpPr>
            <p:cNvPr id="30" name="TextBox 9">
              <a:extLst>
                <a:ext uri="{FF2B5EF4-FFF2-40B4-BE49-F238E27FC236}">
                  <a16:creationId xmlns:a16="http://schemas.microsoft.com/office/drawing/2014/main" id="{FC34B4FF-EE2E-1DCC-19C8-07DABA2F7BEB}"/>
                </a:ext>
              </a:extLst>
            </p:cNvPr>
            <p:cNvSpPr txBox="1"/>
            <p:nvPr/>
          </p:nvSpPr>
          <p:spPr>
            <a:xfrm>
              <a:off x="11620500" y="2686050"/>
              <a:ext cx="4953000" cy="603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Clear business interpretation with comparable silhouette quality.</a:t>
              </a:r>
            </a:p>
          </p:txBody>
        </p:sp>
      </p:grpSp>
      <p:sp>
        <p:nvSpPr>
          <p:cNvPr id="33" name="TextBox 7">
            <a:extLst>
              <a:ext uri="{FF2B5EF4-FFF2-40B4-BE49-F238E27FC236}">
                <a16:creationId xmlns:a16="http://schemas.microsoft.com/office/drawing/2014/main" id="{D1AAD2FD-0434-91C4-B8B8-F0C8ECF519D5}"/>
              </a:ext>
            </a:extLst>
          </p:cNvPr>
          <p:cNvSpPr txBox="1"/>
          <p:nvPr/>
        </p:nvSpPr>
        <p:spPr>
          <a:xfrm>
            <a:off x="914400" y="1808716"/>
            <a:ext cx="9144000" cy="604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 dirty="0">
                <a:solidFill>
                  <a:srgbClr val="BDD0E7"/>
                </a:solidFill>
                <a:latin typeface="DM Sans"/>
                <a:ea typeface="DM Sans"/>
                <a:cs typeface="DM Sans"/>
                <a:sym typeface="DM Sans"/>
              </a:rPr>
              <a:t>Clustering Features: Digital Engagement Score, Total Interactions, Days Since Last Interactions, Estimated Budget, Employee Count and Deal-to-Budget Ratio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628650"/>
            <a:ext cx="14287500" cy="5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4200" b="1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Insights to Application &amp; Deployment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62000" y="1809750"/>
            <a:ext cx="6477000" cy="3429000"/>
            <a:chOff x="0" y="0"/>
            <a:chExt cx="8636000" cy="4572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636000" cy="4572000"/>
              <a:chOff x="0" y="0"/>
              <a:chExt cx="8636000" cy="4572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636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8636000" h="4572000">
                    <a:moveTo>
                      <a:pt x="0" y="0"/>
                    </a:moveTo>
                    <a:lnTo>
                      <a:pt x="8636000" y="0"/>
                    </a:lnTo>
                    <a:lnTo>
                      <a:pt x="8636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8636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342900"/>
              <a:ext cx="5080000" cy="35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 b="1" spc="189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HIGH-INTENT LEADS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00" y="981075"/>
              <a:ext cx="7620000" cy="432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64"/>
                </a:lnSpc>
              </a:pPr>
              <a:r>
                <a:rPr lang="en-US" sz="23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Prioritize direct sales follow-up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00" y="2501900"/>
              <a:ext cx="6350000" cy="35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 b="1" spc="189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LOWER-ENGAGEMENT LEADS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000" y="3140075"/>
              <a:ext cx="7620000" cy="432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64"/>
                </a:lnSpc>
              </a:pPr>
              <a:r>
                <a:rPr lang="en-US" sz="2325" b="1">
                  <a:solidFill>
                    <a:srgbClr val="F8FAF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Use targeted nurture campaigns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7750" y="5772150"/>
            <a:ext cx="47625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b="1" spc="18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CAPABILITIES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7750" y="6229350"/>
            <a:ext cx="5905500" cy="53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65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Conversion Prediction  •  Lead Segmentation  •  Model Performance  •  Business Insights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810500" y="3048000"/>
            <a:ext cx="1619250" cy="1143000"/>
            <a:chOff x="0" y="0"/>
            <a:chExt cx="2159000" cy="152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9000" cy="1524000"/>
            </a:xfrm>
            <a:custGeom>
              <a:avLst/>
              <a:gdLst/>
              <a:ahLst/>
              <a:cxnLst/>
              <a:rect l="l" t="t" r="r" b="b"/>
              <a:pathLst>
                <a:path w="2159000" h="1524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404471"/>
                  </a:lnTo>
                  <a:cubicBezTo>
                    <a:pt x="2159000" y="1470485"/>
                    <a:pt x="2105485" y="1524000"/>
                    <a:pt x="2039471" y="1524000"/>
                  </a:cubicBezTo>
                  <a:lnTo>
                    <a:pt x="119529" y="1524000"/>
                  </a:lnTo>
                  <a:cubicBezTo>
                    <a:pt x="53515" y="1524000"/>
                    <a:pt x="0" y="1470485"/>
                    <a:pt x="0" y="1404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2159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Python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Models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9429750" y="3619500"/>
            <a:ext cx="23812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9763125" y="3048000"/>
            <a:ext cx="1619250" cy="1143000"/>
            <a:chOff x="0" y="0"/>
            <a:chExt cx="2159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59000" cy="1524000"/>
            </a:xfrm>
            <a:custGeom>
              <a:avLst/>
              <a:gdLst/>
              <a:ahLst/>
              <a:cxnLst/>
              <a:rect l="l" t="t" r="r" b="b"/>
              <a:pathLst>
                <a:path w="2159000" h="1524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404471"/>
                  </a:lnTo>
                  <a:cubicBezTo>
                    <a:pt x="2159000" y="1470485"/>
                    <a:pt x="2105485" y="1524000"/>
                    <a:pt x="2039471" y="1524000"/>
                  </a:cubicBezTo>
                  <a:lnTo>
                    <a:pt x="119529" y="1524000"/>
                  </a:lnTo>
                  <a:cubicBezTo>
                    <a:pt x="53515" y="1524000"/>
                    <a:pt x="0" y="1470485"/>
                    <a:pt x="0" y="1404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2159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Streamlit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Application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1382375" y="3619500"/>
            <a:ext cx="23812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6" name="Group 26"/>
          <p:cNvGrpSpPr/>
          <p:nvPr/>
        </p:nvGrpSpPr>
        <p:grpSpPr>
          <a:xfrm>
            <a:off x="11715750" y="3048000"/>
            <a:ext cx="1619250" cy="1143000"/>
            <a:chOff x="0" y="0"/>
            <a:chExt cx="2159000" cy="1524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59000" cy="1524000"/>
            </a:xfrm>
            <a:custGeom>
              <a:avLst/>
              <a:gdLst/>
              <a:ahLst/>
              <a:cxnLst/>
              <a:rect l="l" t="t" r="r" b="b"/>
              <a:pathLst>
                <a:path w="2159000" h="1524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404471"/>
                  </a:lnTo>
                  <a:cubicBezTo>
                    <a:pt x="2159000" y="1470485"/>
                    <a:pt x="2105485" y="1524000"/>
                    <a:pt x="2039471" y="1524000"/>
                  </a:cubicBezTo>
                  <a:lnTo>
                    <a:pt x="119529" y="1524000"/>
                  </a:lnTo>
                  <a:cubicBezTo>
                    <a:pt x="53515" y="1524000"/>
                    <a:pt x="0" y="1470485"/>
                    <a:pt x="0" y="1404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2159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GitHub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13335000" y="3619500"/>
            <a:ext cx="23812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0" name="Group 30"/>
          <p:cNvGrpSpPr/>
          <p:nvPr/>
        </p:nvGrpSpPr>
        <p:grpSpPr>
          <a:xfrm>
            <a:off x="13668375" y="3048000"/>
            <a:ext cx="1619250" cy="1143000"/>
            <a:chOff x="0" y="0"/>
            <a:chExt cx="2159000" cy="1524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9000" cy="1524000"/>
            </a:xfrm>
            <a:custGeom>
              <a:avLst/>
              <a:gdLst/>
              <a:ahLst/>
              <a:cxnLst/>
              <a:rect l="l" t="t" r="r" b="b"/>
              <a:pathLst>
                <a:path w="2159000" h="1524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404471"/>
                  </a:lnTo>
                  <a:cubicBezTo>
                    <a:pt x="2159000" y="1470485"/>
                    <a:pt x="2105485" y="1524000"/>
                    <a:pt x="2039471" y="1524000"/>
                  </a:cubicBezTo>
                  <a:lnTo>
                    <a:pt x="119529" y="1524000"/>
                  </a:lnTo>
                  <a:cubicBezTo>
                    <a:pt x="53515" y="1524000"/>
                    <a:pt x="0" y="1470485"/>
                    <a:pt x="0" y="1404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02D44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28575"/>
              <a:ext cx="2159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Streamlit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Cloud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5287625" y="3619500"/>
            <a:ext cx="238125" cy="0"/>
          </a:xfrm>
          <a:prstGeom prst="line">
            <a:avLst/>
          </a:prstGeom>
          <a:ln w="28575" cap="rnd">
            <a:solidFill>
              <a:srgbClr val="22D3EE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4" name="Group 34"/>
          <p:cNvGrpSpPr/>
          <p:nvPr/>
        </p:nvGrpSpPr>
        <p:grpSpPr>
          <a:xfrm>
            <a:off x="15621000" y="3048000"/>
            <a:ext cx="1619250" cy="1143000"/>
            <a:chOff x="0" y="0"/>
            <a:chExt cx="21590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59000" cy="1524000"/>
            </a:xfrm>
            <a:custGeom>
              <a:avLst/>
              <a:gdLst/>
              <a:ahLst/>
              <a:cxnLst/>
              <a:rect l="l" t="t" r="r" b="b"/>
              <a:pathLst>
                <a:path w="2159000" h="1524000">
                  <a:moveTo>
                    <a:pt x="119529" y="0"/>
                  </a:moveTo>
                  <a:lnTo>
                    <a:pt x="2039471" y="0"/>
                  </a:lnTo>
                  <a:cubicBezTo>
                    <a:pt x="2105485" y="0"/>
                    <a:pt x="2159000" y="53515"/>
                    <a:pt x="2159000" y="119529"/>
                  </a:cubicBezTo>
                  <a:lnTo>
                    <a:pt x="2159000" y="1404471"/>
                  </a:lnTo>
                  <a:cubicBezTo>
                    <a:pt x="2159000" y="1470485"/>
                    <a:pt x="2105485" y="1524000"/>
                    <a:pt x="2039471" y="1524000"/>
                  </a:cubicBezTo>
                  <a:lnTo>
                    <a:pt x="119529" y="1524000"/>
                  </a:lnTo>
                  <a:cubicBezTo>
                    <a:pt x="53515" y="1524000"/>
                    <a:pt x="0" y="1470485"/>
                    <a:pt x="0" y="1404471"/>
                  </a:cubicBezTo>
                  <a:lnTo>
                    <a:pt x="0" y="119529"/>
                  </a:lnTo>
                  <a:cubicBezTo>
                    <a:pt x="0" y="53515"/>
                    <a:pt x="53515" y="0"/>
                    <a:pt x="119529" y="0"/>
                  </a:cubicBezTo>
                  <a:close/>
                </a:path>
              </a:pathLst>
            </a:custGeom>
            <a:solidFill>
              <a:srgbClr val="163A56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28575"/>
              <a:ext cx="2159000" cy="149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Live Web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8FAF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Application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378639D-7C10-6832-20F5-B74A1DEEE8AE}"/>
              </a:ext>
            </a:extLst>
          </p:cNvPr>
          <p:cNvGrpSpPr/>
          <p:nvPr/>
        </p:nvGrpSpPr>
        <p:grpSpPr>
          <a:xfrm>
            <a:off x="7596187" y="5803961"/>
            <a:ext cx="4762500" cy="1121568"/>
            <a:chOff x="7715252" y="5593144"/>
            <a:chExt cx="4762500" cy="1121568"/>
          </a:xfrm>
        </p:grpSpPr>
        <p:sp>
          <p:nvSpPr>
            <p:cNvPr id="59" name="Freeform 36">
              <a:extLst>
                <a:ext uri="{FF2B5EF4-FFF2-40B4-BE49-F238E27FC236}">
                  <a16:creationId xmlns:a16="http://schemas.microsoft.com/office/drawing/2014/main" id="{68984711-990A-0611-B8C2-04DD15A12038}"/>
                </a:ext>
              </a:extLst>
            </p:cNvPr>
            <p:cNvSpPr/>
            <p:nvPr/>
          </p:nvSpPr>
          <p:spPr>
            <a:xfrm>
              <a:off x="7715252" y="5593144"/>
              <a:ext cx="4762500" cy="1121568"/>
            </a:xfrm>
            <a:custGeom>
              <a:avLst/>
              <a:gdLst/>
              <a:ahLst/>
              <a:cxnLst/>
              <a:rect l="l" t="t" r="r" b="b"/>
              <a:pathLst>
                <a:path w="6604000" h="1397000">
                  <a:moveTo>
                    <a:pt x="0" y="0"/>
                  </a:moveTo>
                  <a:lnTo>
                    <a:pt x="6604000" y="0"/>
                  </a:lnTo>
                  <a:lnTo>
                    <a:pt x="660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25C7E8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38">
              <a:extLst>
                <a:ext uri="{FF2B5EF4-FFF2-40B4-BE49-F238E27FC236}">
                  <a16:creationId xmlns:a16="http://schemas.microsoft.com/office/drawing/2014/main" id="{01C8D95E-C784-23BC-BB6F-57D86B0D75B1}"/>
                </a:ext>
              </a:extLst>
            </p:cNvPr>
            <p:cNvSpPr txBox="1"/>
            <p:nvPr/>
          </p:nvSpPr>
          <p:spPr>
            <a:xfrm>
              <a:off x="7855746" y="5929279"/>
              <a:ext cx="4481512" cy="4180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2" tooltip="https://github.com/NitinPrasadBanduni/Sales-Lead-Intelligence"/>
                </a:rPr>
                <a:t>GITHUB REPOSITORY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766A40-7793-24BB-B4A7-4C52F7094637}"/>
              </a:ext>
            </a:extLst>
          </p:cNvPr>
          <p:cNvGrpSpPr/>
          <p:nvPr/>
        </p:nvGrpSpPr>
        <p:grpSpPr>
          <a:xfrm>
            <a:off x="12725400" y="5793614"/>
            <a:ext cx="4953000" cy="1121569"/>
            <a:chOff x="12906375" y="5587613"/>
            <a:chExt cx="4953000" cy="1132246"/>
          </a:xfrm>
        </p:grpSpPr>
        <p:grpSp>
          <p:nvGrpSpPr>
            <p:cNvPr id="53" name="Group 35">
              <a:extLst>
                <a:ext uri="{FF2B5EF4-FFF2-40B4-BE49-F238E27FC236}">
                  <a16:creationId xmlns:a16="http://schemas.microsoft.com/office/drawing/2014/main" id="{3E1EA66A-0F7E-4FD6-72A2-6542625AFF02}"/>
                </a:ext>
              </a:extLst>
            </p:cNvPr>
            <p:cNvGrpSpPr/>
            <p:nvPr/>
          </p:nvGrpSpPr>
          <p:grpSpPr>
            <a:xfrm>
              <a:off x="13001625" y="5587613"/>
              <a:ext cx="4762500" cy="1132246"/>
              <a:chOff x="0" y="0"/>
              <a:chExt cx="6604000" cy="1397000"/>
            </a:xfrm>
          </p:grpSpPr>
          <p:sp>
            <p:nvSpPr>
              <p:cNvPr id="54" name="Freeform 36">
                <a:extLst>
                  <a:ext uri="{FF2B5EF4-FFF2-40B4-BE49-F238E27FC236}">
                    <a16:creationId xmlns:a16="http://schemas.microsoft.com/office/drawing/2014/main" id="{B29B4B3B-1599-2CD8-93FD-AE5B5692D915}"/>
                  </a:ext>
                </a:extLst>
              </p:cNvPr>
              <p:cNvSpPr/>
              <p:nvPr/>
            </p:nvSpPr>
            <p:spPr>
              <a:xfrm>
                <a:off x="0" y="0"/>
                <a:ext cx="6604000" cy="1397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1397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25C7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5" name="TextBox 37">
                <a:extLst>
                  <a:ext uri="{FF2B5EF4-FFF2-40B4-BE49-F238E27FC236}">
                    <a16:creationId xmlns:a16="http://schemas.microsoft.com/office/drawing/2014/main" id="{63D3790F-5216-81E5-249F-AA3CABB6B34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604000" cy="143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6" name="TextBox 39">
              <a:extLst>
                <a:ext uri="{FF2B5EF4-FFF2-40B4-BE49-F238E27FC236}">
                  <a16:creationId xmlns:a16="http://schemas.microsoft.com/office/drawing/2014/main" id="{0BB08B6A-8E2E-A8CA-4ACB-5A8AF3B1F56E}"/>
                </a:ext>
              </a:extLst>
            </p:cNvPr>
            <p:cNvSpPr txBox="1"/>
            <p:nvPr/>
          </p:nvSpPr>
          <p:spPr>
            <a:xfrm>
              <a:off x="12906375" y="5942726"/>
              <a:ext cx="4953000" cy="4220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1" dirty="0">
                  <a:solidFill>
                    <a:srgbClr val="071426"/>
                  </a:solidFill>
                  <a:latin typeface="Montserrat Bold"/>
                  <a:ea typeface="Montserrat Bold"/>
                  <a:cs typeface="Montserrat Bold"/>
                  <a:sym typeface="Montserrat Bold"/>
                  <a:hlinkClick r:id="rId3" tooltip="https://sales-lead-intelligence-e2tsbvdrap6mh7rs93ocdt.streamlit.app"/>
                </a:rPr>
                <a:t>LIVE APPLICATION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76200"/>
            <a:chOff x="0" y="0"/>
            <a:chExt cx="24384000" cy="10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1600"/>
            </a:xfrm>
            <a:custGeom>
              <a:avLst/>
              <a:gdLst/>
              <a:ahLst/>
              <a:cxnLst/>
              <a:rect l="l" t="t" r="r" b="b"/>
              <a:pathLst>
                <a:path w="24384000" h="1016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2D3EE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811625" y="9582150"/>
            <a:ext cx="5524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9601200"/>
            <a:ext cx="476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2D3EE"/>
                </a:solidFill>
                <a:latin typeface="DM Sans Bold"/>
                <a:ea typeface="DM Sans Bold"/>
                <a:cs typeface="DM Sans Bold"/>
                <a:sym typeface="DM Sans Bold"/>
              </a:rPr>
              <a:t>SALES LEAD INTELLIGENCE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A2B">
                <a:alpha val="7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685800"/>
            <a:ext cx="114300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4500" b="1" dirty="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Outcome &amp; Future Scope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2080359"/>
            <a:ext cx="7239000" cy="3429000"/>
            <a:chOff x="0" y="0"/>
            <a:chExt cx="9652000" cy="45720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9652000" cy="4572000"/>
              <a:chOff x="0" y="0"/>
              <a:chExt cx="9652000" cy="4572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652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652000" h="457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9652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81000" y="279400"/>
              <a:ext cx="3810000" cy="35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b="1" spc="179" dirty="0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Project Outcome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1000" y="942975"/>
              <a:ext cx="8636000" cy="2994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Built an end-to-end sales lead intelligence solution </a:t>
              </a:r>
            </a:p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Combined EDA, classification, and clustering to understand lead behavior </a:t>
              </a:r>
            </a:p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Converted ML results into practical sales prioritization and nurturing strategies </a:t>
              </a:r>
            </a:p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Deployed the solution as an interactive </a:t>
              </a:r>
              <a:r>
                <a:rPr lang="en-US" sz="1650" dirty="0" err="1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Streamlit</a:t>
              </a: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 application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73073" y="2080359"/>
            <a:ext cx="7905750" cy="3429000"/>
            <a:chOff x="0" y="0"/>
            <a:chExt cx="10541000" cy="4572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541000" cy="4572000"/>
              <a:chOff x="0" y="0"/>
              <a:chExt cx="10541000" cy="4572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541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10541000" h="4572000">
                    <a:moveTo>
                      <a:pt x="0" y="0"/>
                    </a:moveTo>
                    <a:lnTo>
                      <a:pt x="10541000" y="0"/>
                    </a:lnTo>
                    <a:lnTo>
                      <a:pt x="10541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0D24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541000" cy="461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81000" y="279400"/>
              <a:ext cx="3810000" cy="35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b="1" spc="179" dirty="0">
                  <a:solidFill>
                    <a:srgbClr val="22D3E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SCOPE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1000" y="942975"/>
              <a:ext cx="9144000" cy="1984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Integrate real CRM and marketing-platform data </a:t>
              </a:r>
            </a:p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Add model monitoring, drift detection, and automated retraining </a:t>
              </a:r>
            </a:p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Add explainability for individual lead predictions </a:t>
              </a:r>
            </a:p>
            <a:p>
              <a:pPr lvl="0">
                <a:lnSpc>
                  <a:spcPct val="150000"/>
                </a:lnSpc>
              </a:pPr>
              <a:r>
                <a:rPr lang="en-US" sz="1650" dirty="0">
                  <a:solidFill>
                    <a:schemeClr val="bg1">
                      <a:lumMod val="95000"/>
                    </a:schemeClr>
                  </a:solidFill>
                  <a:latin typeface="DM Sans" pitchFamily="2" charset="0"/>
                </a:rPr>
                <a:t>Integrate lead scoring directly into CRM workflows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245872" y="7256581"/>
            <a:ext cx="5796256" cy="960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4"/>
              </a:lnSpc>
            </a:pPr>
            <a:r>
              <a:rPr lang="en-US" sz="6910" b="1" dirty="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1049</Words>
  <Application>Microsoft Office PowerPoint</Application>
  <PresentationFormat>Custom</PresentationFormat>
  <Paragraphs>260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DM Sans</vt:lpstr>
      <vt:lpstr>DM Sans Bold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Lead Intelligence</dc:title>
  <dc:creator>Nitin Prasad</dc:creator>
  <cp:lastModifiedBy>Nitin Prasad</cp:lastModifiedBy>
  <cp:revision>5</cp:revision>
  <dcterms:created xsi:type="dcterms:W3CDTF">2006-08-16T00:00:00Z</dcterms:created>
  <dcterms:modified xsi:type="dcterms:W3CDTF">2026-09-25T16:53:23Z</dcterms:modified>
  <dc:identifier>DAHWNebEhvs</dc:identifier>
</cp:coreProperties>
</file>